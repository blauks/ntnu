
<file path=[Content_Types].xml><?xml version="1.0" encoding="utf-8"?>
<Types xmlns="http://schemas.openxmlformats.org/package/2006/content-types">
  <Default Extension="jpg" ContentType="image/jpeg"/>
  <Default Extension="xls" ContentType="application/vnd.ms-excel"/>
  <Default Extension="doc" ContentType="application/msword"/>
  <Default Extension="xml" ContentType="application/xml"/>
  <Default Extension="jpeg" ContentType="image/jpeg"/>
  <Default Extension="vml" ContentType="application/vnd.openxmlformats-officedocument.vmlDrawing"/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m4a" ContentType="audio/mp4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90" r:id="rId2"/>
    <p:sldId id="368" r:id="rId3"/>
    <p:sldId id="340" r:id="rId4"/>
    <p:sldId id="394" r:id="rId5"/>
    <p:sldId id="343" r:id="rId6"/>
    <p:sldId id="348" r:id="rId7"/>
    <p:sldId id="351" r:id="rId8"/>
    <p:sldId id="352" r:id="rId9"/>
    <p:sldId id="353" r:id="rId10"/>
    <p:sldId id="347" r:id="rId11"/>
    <p:sldId id="341" r:id="rId12"/>
    <p:sldId id="339" r:id="rId13"/>
    <p:sldId id="379" r:id="rId14"/>
    <p:sldId id="279" r:id="rId15"/>
    <p:sldId id="360" r:id="rId16"/>
    <p:sldId id="307" r:id="rId17"/>
    <p:sldId id="260" r:id="rId18"/>
    <p:sldId id="299" r:id="rId19"/>
    <p:sldId id="304" r:id="rId20"/>
    <p:sldId id="262" r:id="rId21"/>
    <p:sldId id="300" r:id="rId22"/>
    <p:sldId id="349" r:id="rId23"/>
    <p:sldId id="350" r:id="rId24"/>
    <p:sldId id="361" r:id="rId25"/>
    <p:sldId id="393" r:id="rId26"/>
    <p:sldId id="268" r:id="rId27"/>
    <p:sldId id="269" r:id="rId28"/>
    <p:sldId id="331" r:id="rId29"/>
    <p:sldId id="332" r:id="rId30"/>
    <p:sldId id="387" r:id="rId31"/>
    <p:sldId id="334" r:id="rId32"/>
    <p:sldId id="335" r:id="rId33"/>
    <p:sldId id="354" r:id="rId34"/>
    <p:sldId id="372" r:id="rId35"/>
    <p:sldId id="374" r:id="rId36"/>
    <p:sldId id="395" r:id="rId37"/>
    <p:sldId id="396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0000"/>
    <a:srgbClr val="AFE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2"/>
    <p:restoredTop sz="81098" autoAdjust="0"/>
  </p:normalViewPr>
  <p:slideViewPr>
    <p:cSldViewPr>
      <p:cViewPr varScale="1">
        <p:scale>
          <a:sx n="103" d="100"/>
          <a:sy n="103" d="100"/>
        </p:scale>
        <p:origin x="22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120"/>
    </p:cViewPr>
  </p:sorterViewPr>
  <p:notesViewPr>
    <p:cSldViewPr>
      <p:cViewPr varScale="1">
        <p:scale>
          <a:sx n="60" d="100"/>
          <a:sy n="60" d="100"/>
        </p:scale>
        <p:origin x="-274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FB57A8-B046-401A-8709-75454E7BC928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</dgm:pt>
    <dgm:pt modelId="{5677FDBE-D72E-4C27-95A1-3A1D4B5AC62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nb-NO" altLang="nb-NO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rPr>
            <a:t>Nedsatt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nb-NO" altLang="nb-NO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rPr>
            <a:t>fysisk kapasitet</a:t>
          </a:r>
        </a:p>
      </dgm:t>
    </dgm:pt>
    <dgm:pt modelId="{0C69E5D9-E38A-4BCA-AA1B-11E56366860F}" type="parTrans" cxnId="{AD598309-B0FB-4784-9B5D-9A3991C192B3}">
      <dgm:prSet/>
      <dgm:spPr/>
      <dgm:t>
        <a:bodyPr/>
        <a:lstStyle/>
        <a:p>
          <a:endParaRPr lang="en-US"/>
        </a:p>
      </dgm:t>
    </dgm:pt>
    <dgm:pt modelId="{5BC3DB47-C732-40EB-96B3-1087E7ADEAC6}" type="sibTrans" cxnId="{AD598309-B0FB-4784-9B5D-9A3991C192B3}">
      <dgm:prSet/>
      <dgm:spPr/>
      <dgm:t>
        <a:bodyPr/>
        <a:lstStyle/>
        <a:p>
          <a:endParaRPr lang="en-US"/>
        </a:p>
      </dgm:t>
    </dgm:pt>
    <dgm:pt modelId="{610EE824-741C-428B-A35F-6421FD4FF7B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nb-NO" altLang="nb-NO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rPr>
            <a:t>Sykdommer</a:t>
          </a:r>
        </a:p>
      </dgm:t>
    </dgm:pt>
    <dgm:pt modelId="{A5A79C5B-93BA-47C1-BDCE-1BD286F8E332}" type="parTrans" cxnId="{E0918754-097B-4F68-8857-E0AA9D0DF488}">
      <dgm:prSet/>
      <dgm:spPr/>
      <dgm:t>
        <a:bodyPr/>
        <a:lstStyle/>
        <a:p>
          <a:endParaRPr lang="en-US"/>
        </a:p>
      </dgm:t>
    </dgm:pt>
    <dgm:pt modelId="{46E0E20E-7C69-4A27-80B0-AF0736420FA5}" type="sibTrans" cxnId="{E0918754-097B-4F68-8857-E0AA9D0DF488}">
      <dgm:prSet/>
      <dgm:spPr/>
      <dgm:t>
        <a:bodyPr/>
        <a:lstStyle/>
        <a:p>
          <a:endParaRPr lang="en-US"/>
        </a:p>
      </dgm:t>
    </dgm:pt>
    <dgm:pt modelId="{2C708F32-1385-4BDE-A7EC-C7115E40525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nb-NO" altLang="nb-NO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rPr>
            <a:t>Inaktivitet</a:t>
          </a:r>
        </a:p>
      </dgm:t>
    </dgm:pt>
    <dgm:pt modelId="{11453FCD-5CC5-46A3-8FB1-C700A5ED1CF0}" type="parTrans" cxnId="{09795FDB-6AB5-455C-BAEE-32E009325E04}">
      <dgm:prSet/>
      <dgm:spPr/>
      <dgm:t>
        <a:bodyPr/>
        <a:lstStyle/>
        <a:p>
          <a:endParaRPr lang="en-US"/>
        </a:p>
      </dgm:t>
    </dgm:pt>
    <dgm:pt modelId="{079A0699-79D3-42C8-A9C8-AE0ABC352FD5}" type="sibTrans" cxnId="{09795FDB-6AB5-455C-BAEE-32E009325E04}">
      <dgm:prSet/>
      <dgm:spPr/>
      <dgm:t>
        <a:bodyPr/>
        <a:lstStyle/>
        <a:p>
          <a:endParaRPr lang="en-US"/>
        </a:p>
      </dgm:t>
    </dgm:pt>
    <dgm:pt modelId="{AE185082-9E5A-4701-B433-FA7456853858}" type="pres">
      <dgm:prSet presAssocID="{C8FB57A8-B046-401A-8709-75454E7BC928}" presName="cycle" presStyleCnt="0">
        <dgm:presLayoutVars>
          <dgm:dir/>
          <dgm:resizeHandles val="exact"/>
        </dgm:presLayoutVars>
      </dgm:prSet>
      <dgm:spPr/>
    </dgm:pt>
    <dgm:pt modelId="{2DA03CCB-15B3-488A-AA91-A6F5934448A3}" type="pres">
      <dgm:prSet presAssocID="{5677FDBE-D72E-4C27-95A1-3A1D4B5AC62D}" presName="dummy" presStyleCnt="0"/>
      <dgm:spPr/>
    </dgm:pt>
    <dgm:pt modelId="{A9075884-C616-4A64-B76D-5D21F0C6A781}" type="pres">
      <dgm:prSet presAssocID="{5677FDBE-D72E-4C27-95A1-3A1D4B5AC62D}" presName="node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AC4F6FE3-8E11-4E57-B1E6-9C91A6E57112}" type="pres">
      <dgm:prSet presAssocID="{5BC3DB47-C732-40EB-96B3-1087E7ADEAC6}" presName="sibTrans" presStyleLbl="node1" presStyleIdx="0" presStyleCnt="3"/>
      <dgm:spPr/>
      <dgm:t>
        <a:bodyPr/>
        <a:lstStyle/>
        <a:p>
          <a:endParaRPr lang="en-US"/>
        </a:p>
      </dgm:t>
    </dgm:pt>
    <dgm:pt modelId="{A89F43DA-DBD3-4761-9E2B-B0622C467396}" type="pres">
      <dgm:prSet presAssocID="{610EE824-741C-428B-A35F-6421FD4FF7B2}" presName="dummy" presStyleCnt="0"/>
      <dgm:spPr/>
    </dgm:pt>
    <dgm:pt modelId="{AE29DC15-6278-4691-B155-00D25C91F9C0}" type="pres">
      <dgm:prSet presAssocID="{610EE824-741C-428B-A35F-6421FD4FF7B2}" presName="node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14E32DDA-6090-4EC6-AC41-02B6E7EA0441}" type="pres">
      <dgm:prSet presAssocID="{46E0E20E-7C69-4A27-80B0-AF0736420FA5}" presName="sibTrans" presStyleLbl="node1" presStyleIdx="1" presStyleCnt="3"/>
      <dgm:spPr/>
      <dgm:t>
        <a:bodyPr/>
        <a:lstStyle/>
        <a:p>
          <a:endParaRPr lang="en-US"/>
        </a:p>
      </dgm:t>
    </dgm:pt>
    <dgm:pt modelId="{EC378F03-1106-41E9-9A1E-1B231F5166F8}" type="pres">
      <dgm:prSet presAssocID="{2C708F32-1385-4BDE-A7EC-C7115E40525D}" presName="dummy" presStyleCnt="0"/>
      <dgm:spPr/>
    </dgm:pt>
    <dgm:pt modelId="{BE2EBC95-09D0-4AAB-803F-056B1D244F54}" type="pres">
      <dgm:prSet presAssocID="{2C708F32-1385-4BDE-A7EC-C7115E40525D}" presName="node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27C2B22B-B793-40C9-97F7-621C71E60B04}" type="pres">
      <dgm:prSet presAssocID="{079A0699-79D3-42C8-A9C8-AE0ABC352FD5}" presName="sibTrans" presStyleLbl="node1" presStyleIdx="2" presStyleCnt="3"/>
      <dgm:spPr/>
      <dgm:t>
        <a:bodyPr/>
        <a:lstStyle/>
        <a:p>
          <a:endParaRPr lang="en-US"/>
        </a:p>
      </dgm:t>
    </dgm:pt>
  </dgm:ptLst>
  <dgm:cxnLst>
    <dgm:cxn modelId="{AD598309-B0FB-4784-9B5D-9A3991C192B3}" srcId="{C8FB57A8-B046-401A-8709-75454E7BC928}" destId="{5677FDBE-D72E-4C27-95A1-3A1D4B5AC62D}" srcOrd="0" destOrd="0" parTransId="{0C69E5D9-E38A-4BCA-AA1B-11E56366860F}" sibTransId="{5BC3DB47-C732-40EB-96B3-1087E7ADEAC6}"/>
    <dgm:cxn modelId="{09795FDB-6AB5-455C-BAEE-32E009325E04}" srcId="{C8FB57A8-B046-401A-8709-75454E7BC928}" destId="{2C708F32-1385-4BDE-A7EC-C7115E40525D}" srcOrd="2" destOrd="0" parTransId="{11453FCD-5CC5-46A3-8FB1-C700A5ED1CF0}" sibTransId="{079A0699-79D3-42C8-A9C8-AE0ABC352FD5}"/>
    <dgm:cxn modelId="{626A5BAA-1B30-FA42-BB80-4CE2BAD91F2F}" type="presOf" srcId="{46E0E20E-7C69-4A27-80B0-AF0736420FA5}" destId="{14E32DDA-6090-4EC6-AC41-02B6E7EA0441}" srcOrd="0" destOrd="0" presId="urn:microsoft.com/office/officeart/2005/8/layout/cycle1"/>
    <dgm:cxn modelId="{E2CE0DFB-AA0F-9D4F-B81B-D25763ACB195}" type="presOf" srcId="{610EE824-741C-428B-A35F-6421FD4FF7B2}" destId="{AE29DC15-6278-4691-B155-00D25C91F9C0}" srcOrd="0" destOrd="0" presId="urn:microsoft.com/office/officeart/2005/8/layout/cycle1"/>
    <dgm:cxn modelId="{5333A929-9559-A246-AE41-CBA3D1A5F3F2}" type="presOf" srcId="{079A0699-79D3-42C8-A9C8-AE0ABC352FD5}" destId="{27C2B22B-B793-40C9-97F7-621C71E60B04}" srcOrd="0" destOrd="0" presId="urn:microsoft.com/office/officeart/2005/8/layout/cycle1"/>
    <dgm:cxn modelId="{ADC0370C-560E-DA49-B82F-AFA26777AF3B}" type="presOf" srcId="{5BC3DB47-C732-40EB-96B3-1087E7ADEAC6}" destId="{AC4F6FE3-8E11-4E57-B1E6-9C91A6E57112}" srcOrd="0" destOrd="0" presId="urn:microsoft.com/office/officeart/2005/8/layout/cycle1"/>
    <dgm:cxn modelId="{E0918754-097B-4F68-8857-E0AA9D0DF488}" srcId="{C8FB57A8-B046-401A-8709-75454E7BC928}" destId="{610EE824-741C-428B-A35F-6421FD4FF7B2}" srcOrd="1" destOrd="0" parTransId="{A5A79C5B-93BA-47C1-BDCE-1BD286F8E332}" sibTransId="{46E0E20E-7C69-4A27-80B0-AF0736420FA5}"/>
    <dgm:cxn modelId="{003E4121-44EB-544F-A88B-A224982C039C}" type="presOf" srcId="{5677FDBE-D72E-4C27-95A1-3A1D4B5AC62D}" destId="{A9075884-C616-4A64-B76D-5D21F0C6A781}" srcOrd="0" destOrd="0" presId="urn:microsoft.com/office/officeart/2005/8/layout/cycle1"/>
    <dgm:cxn modelId="{E257F3D8-7B72-964A-8280-50B6D023CF71}" type="presOf" srcId="{2C708F32-1385-4BDE-A7EC-C7115E40525D}" destId="{BE2EBC95-09D0-4AAB-803F-056B1D244F54}" srcOrd="0" destOrd="0" presId="urn:microsoft.com/office/officeart/2005/8/layout/cycle1"/>
    <dgm:cxn modelId="{449FCE3C-47A6-1D49-A903-2A7D3CF04F8F}" type="presOf" srcId="{C8FB57A8-B046-401A-8709-75454E7BC928}" destId="{AE185082-9E5A-4701-B433-FA7456853858}" srcOrd="0" destOrd="0" presId="urn:microsoft.com/office/officeart/2005/8/layout/cycle1"/>
    <dgm:cxn modelId="{BB3D7947-3C96-7749-9820-05B08188E9F1}" type="presParOf" srcId="{AE185082-9E5A-4701-B433-FA7456853858}" destId="{2DA03CCB-15B3-488A-AA91-A6F5934448A3}" srcOrd="0" destOrd="0" presId="urn:microsoft.com/office/officeart/2005/8/layout/cycle1"/>
    <dgm:cxn modelId="{FFFDEF84-1511-6C46-97E8-4C5B632F6706}" type="presParOf" srcId="{AE185082-9E5A-4701-B433-FA7456853858}" destId="{A9075884-C616-4A64-B76D-5D21F0C6A781}" srcOrd="1" destOrd="0" presId="urn:microsoft.com/office/officeart/2005/8/layout/cycle1"/>
    <dgm:cxn modelId="{5BFC7F88-BAC7-5A41-9677-7A15A030516B}" type="presParOf" srcId="{AE185082-9E5A-4701-B433-FA7456853858}" destId="{AC4F6FE3-8E11-4E57-B1E6-9C91A6E57112}" srcOrd="2" destOrd="0" presId="urn:microsoft.com/office/officeart/2005/8/layout/cycle1"/>
    <dgm:cxn modelId="{CDF18362-D333-114A-A07F-5CC41423DFA5}" type="presParOf" srcId="{AE185082-9E5A-4701-B433-FA7456853858}" destId="{A89F43DA-DBD3-4761-9E2B-B0622C467396}" srcOrd="3" destOrd="0" presId="urn:microsoft.com/office/officeart/2005/8/layout/cycle1"/>
    <dgm:cxn modelId="{9146BA57-8979-9A46-A424-9D38F654368C}" type="presParOf" srcId="{AE185082-9E5A-4701-B433-FA7456853858}" destId="{AE29DC15-6278-4691-B155-00D25C91F9C0}" srcOrd="4" destOrd="0" presId="urn:microsoft.com/office/officeart/2005/8/layout/cycle1"/>
    <dgm:cxn modelId="{B32BCF82-74B8-FB45-B23F-376D5B61FC87}" type="presParOf" srcId="{AE185082-9E5A-4701-B433-FA7456853858}" destId="{14E32DDA-6090-4EC6-AC41-02B6E7EA0441}" srcOrd="5" destOrd="0" presId="urn:microsoft.com/office/officeart/2005/8/layout/cycle1"/>
    <dgm:cxn modelId="{DC95F3C7-3934-4B4F-9ED2-E8A39DC60707}" type="presParOf" srcId="{AE185082-9E5A-4701-B433-FA7456853858}" destId="{EC378F03-1106-41E9-9A1E-1B231F5166F8}" srcOrd="6" destOrd="0" presId="urn:microsoft.com/office/officeart/2005/8/layout/cycle1"/>
    <dgm:cxn modelId="{07528E5B-CD49-614F-9ED8-5BF27EB6B88E}" type="presParOf" srcId="{AE185082-9E5A-4701-B433-FA7456853858}" destId="{BE2EBC95-09D0-4AAB-803F-056B1D244F54}" srcOrd="7" destOrd="0" presId="urn:microsoft.com/office/officeart/2005/8/layout/cycle1"/>
    <dgm:cxn modelId="{11CECF49-D6A4-3B45-86C3-CC6A290C648E}" type="presParOf" srcId="{AE185082-9E5A-4701-B433-FA7456853858}" destId="{27C2B22B-B793-40C9-97F7-621C71E60B04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075884-C616-4A64-B76D-5D21F0C6A781}">
      <dsp:nvSpPr>
        <dsp:cNvPr id="0" name=""/>
        <dsp:cNvSpPr/>
      </dsp:nvSpPr>
      <dsp:spPr>
        <a:xfrm>
          <a:off x="3021082" y="287783"/>
          <a:ext cx="1464420" cy="146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nb-NO" altLang="nb-NO" sz="20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rPr>
            <a:t>Nedsatt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nb-NO" altLang="nb-NO" sz="20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rPr>
            <a:t>fysisk kapasitet</a:t>
          </a:r>
        </a:p>
      </dsp:txBody>
      <dsp:txXfrm>
        <a:off x="3021082" y="287783"/>
        <a:ext cx="1464420" cy="1464420"/>
      </dsp:txXfrm>
    </dsp:sp>
    <dsp:sp modelId="{AC4F6FE3-8E11-4E57-B1E6-9C91A6E57112}">
      <dsp:nvSpPr>
        <dsp:cNvPr id="0" name=""/>
        <dsp:cNvSpPr/>
      </dsp:nvSpPr>
      <dsp:spPr>
        <a:xfrm>
          <a:off x="787160" y="-1244"/>
          <a:ext cx="3466238" cy="3466238"/>
        </a:xfrm>
        <a:prstGeom prst="circularArrow">
          <a:avLst>
            <a:gd name="adj1" fmla="val 8238"/>
            <a:gd name="adj2" fmla="val 575258"/>
            <a:gd name="adj3" fmla="val 2967785"/>
            <a:gd name="adj4" fmla="val 49089"/>
            <a:gd name="adj5" fmla="val 961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9DC15-6278-4691-B155-00D25C91F9C0}">
      <dsp:nvSpPr>
        <dsp:cNvPr id="0" name=""/>
        <dsp:cNvSpPr/>
      </dsp:nvSpPr>
      <dsp:spPr>
        <a:xfrm>
          <a:off x="1788069" y="2423424"/>
          <a:ext cx="1464420" cy="146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nb-NO" altLang="nb-NO" sz="20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rPr>
            <a:t>Sykdommer</a:t>
          </a:r>
        </a:p>
      </dsp:txBody>
      <dsp:txXfrm>
        <a:off x="1788069" y="2423424"/>
        <a:ext cx="1464420" cy="1464420"/>
      </dsp:txXfrm>
    </dsp:sp>
    <dsp:sp modelId="{14E32DDA-6090-4EC6-AC41-02B6E7EA0441}">
      <dsp:nvSpPr>
        <dsp:cNvPr id="0" name=""/>
        <dsp:cNvSpPr/>
      </dsp:nvSpPr>
      <dsp:spPr>
        <a:xfrm>
          <a:off x="787160" y="-1244"/>
          <a:ext cx="3466238" cy="3466238"/>
        </a:xfrm>
        <a:prstGeom prst="circularArrow">
          <a:avLst>
            <a:gd name="adj1" fmla="val 8238"/>
            <a:gd name="adj2" fmla="val 575258"/>
            <a:gd name="adj3" fmla="val 10175652"/>
            <a:gd name="adj4" fmla="val 7256957"/>
            <a:gd name="adj5" fmla="val 961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EBC95-09D0-4AAB-803F-056B1D244F54}">
      <dsp:nvSpPr>
        <dsp:cNvPr id="0" name=""/>
        <dsp:cNvSpPr/>
      </dsp:nvSpPr>
      <dsp:spPr>
        <a:xfrm>
          <a:off x="555056" y="287783"/>
          <a:ext cx="1464420" cy="146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nb-NO" altLang="nb-NO" sz="20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rPr>
            <a:t>Inaktivitet</a:t>
          </a:r>
        </a:p>
      </dsp:txBody>
      <dsp:txXfrm>
        <a:off x="555056" y="287783"/>
        <a:ext cx="1464420" cy="1464420"/>
      </dsp:txXfrm>
    </dsp:sp>
    <dsp:sp modelId="{27C2B22B-B793-40C9-97F7-621C71E60B04}">
      <dsp:nvSpPr>
        <dsp:cNvPr id="0" name=""/>
        <dsp:cNvSpPr/>
      </dsp:nvSpPr>
      <dsp:spPr>
        <a:xfrm>
          <a:off x="787160" y="-1244"/>
          <a:ext cx="3466238" cy="3466238"/>
        </a:xfrm>
        <a:prstGeom prst="circularArrow">
          <a:avLst>
            <a:gd name="adj1" fmla="val 8238"/>
            <a:gd name="adj2" fmla="val 575258"/>
            <a:gd name="adj3" fmla="val 16860392"/>
            <a:gd name="adj4" fmla="val 14964350"/>
            <a:gd name="adj5" fmla="val 961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Klikk for å redigere tekststiler i malen</a:t>
            </a:r>
          </a:p>
          <a:p>
            <a:pPr lvl="1"/>
            <a:r>
              <a:rPr lang="en-US" noProof="0" smtClean="0"/>
              <a:t>Andre nivå</a:t>
            </a:r>
          </a:p>
          <a:p>
            <a:pPr lvl="2"/>
            <a:r>
              <a:rPr lang="en-US" noProof="0" smtClean="0"/>
              <a:t>Tredje nivå</a:t>
            </a:r>
          </a:p>
          <a:p>
            <a:pPr lvl="3"/>
            <a:r>
              <a:rPr lang="en-US" noProof="0" smtClean="0"/>
              <a:t>Fjerde nivå</a:t>
            </a:r>
          </a:p>
          <a:p>
            <a:pPr lvl="4"/>
            <a:r>
              <a:rPr lang="en-US" noProof="0" smtClean="0"/>
              <a:t>Femte nivå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197F9A8-D559-436C-803B-362D639A91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48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EB3FF2-9756-4BE9-9F18-DACBB7A27679}" type="slidenum">
              <a:rPr lang="en-GB" smtClean="0"/>
              <a:pPr/>
              <a:t>1</a:t>
            </a:fld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5837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9C874FC-B538-406E-B91F-16CCBD137B09}" type="slidenum">
              <a:rPr lang="en-US" sz="1200"/>
              <a:pPr algn="r"/>
              <a:t>2</a:t>
            </a:fld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F9F9D0-2D09-4351-B3A1-51ABACA0BCF0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56E706A-1EB3-3546-AC3E-5EEB862466F2}" type="slidenum">
              <a:rPr lang="en-GB" altLang="nb-NO" sz="1200"/>
              <a:pPr/>
              <a:t>4</a:t>
            </a:fld>
            <a:endParaRPr lang="en-GB" altLang="nb-NO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nb-NO" sz="1600" dirty="0"/>
          </a:p>
        </p:txBody>
      </p:sp>
    </p:spTree>
    <p:extLst>
      <p:ext uri="{BB962C8B-B14F-4D97-AF65-F5344CB8AC3E}">
        <p14:creationId xmlns:p14="http://schemas.microsoft.com/office/powerpoint/2010/main" val="1591900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6835FD-5444-42E2-947D-E0450284A429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6D134C-1B2A-4D0E-B800-700FD0138806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92DB73-4995-4590-BCE0-2C2CB66DB9AF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DD61D3-8EEA-4B27-8FD3-B782FC6DCC82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B9A8AD-98DA-46AA-B12E-1E348E6096B7}" type="slidenum">
              <a:rPr lang="en-US" smtClean="0"/>
              <a:pPr/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AC57B1-44DD-474B-9B60-E5966EDF4044}" type="slidenum">
              <a:rPr lang="en-US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37FBB1-53C1-4403-A5E8-798626DD6B62}" type="slidenum">
              <a:rPr lang="en-US" smtClean="0"/>
              <a:pPr/>
              <a:t>11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0BB36F-7046-4CF6-AA3F-7C2BC2EFEBD0}" type="slidenum">
              <a:rPr lang="en-US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b-NO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106EC8-BCA7-4E14-BE54-7406B28F6829}" type="slidenum">
              <a:rPr lang="en-US" smtClean="0"/>
              <a:pPr/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7C4ED9-18B0-4606-B425-6F85AE706713}" type="slidenum">
              <a:rPr lang="en-US" smtClean="0"/>
              <a:pPr/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D124D0-1612-4725-8C3E-97FC5EFB2A4F}" type="slidenum">
              <a:rPr lang="en-US" smtClean="0"/>
              <a:pPr/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7A4CFD-51D3-4417-945D-E49CFF919F20}" type="slidenum">
              <a:rPr lang="en-US" smtClean="0"/>
              <a:pPr/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nb-NO" smtClean="0"/>
              <a:t>Tilsvarer 15 reps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A73869-F42D-4014-B5EA-65980C72DACF}" type="slidenum">
              <a:rPr lang="en-US" smtClean="0"/>
              <a:pPr/>
              <a:t>17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3892D3-B94F-43FF-89F9-2AACB63F9158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nb-NO" smtClean="0"/>
              <a:t>Kan vi se hvem som er sterke eller ikke.</a:t>
            </a:r>
          </a:p>
          <a:p>
            <a:pPr eaLnBrk="1" hangingPunct="1"/>
            <a:endParaRPr lang="nb-NO" smtClean="0"/>
          </a:p>
          <a:p>
            <a:pPr eaLnBrk="1" hangingPunct="1"/>
            <a:r>
              <a:rPr lang="nb-NO" smtClean="0"/>
              <a:t>Styrke er proporsjonalt med tverrsnitt. Men samme tverrsnitt kan ha svært ulike styrke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04F3FA-7F33-49C3-88A3-47B369351906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nb-NO" smtClean="0"/>
              <a:t>Utdyp hva som er vanlige feil</a:t>
            </a:r>
          </a:p>
          <a:p>
            <a:pPr eaLnBrk="1" hangingPunct="1"/>
            <a:endParaRPr lang="nb-NO" smtClean="0"/>
          </a:p>
          <a:p>
            <a:pPr eaLnBrk="1" hangingPunct="1"/>
            <a:r>
              <a:rPr lang="nb-NO" smtClean="0"/>
              <a:t>Hvor dypt skal man gå?</a:t>
            </a:r>
          </a:p>
          <a:p>
            <a:pPr eaLnBrk="1" hangingPunct="1"/>
            <a:endParaRPr lang="nb-NO" smtClean="0"/>
          </a:p>
          <a:p>
            <a:pPr eaLnBrk="1" hangingPunct="1"/>
            <a:r>
              <a:rPr lang="nb-NO" smtClean="0"/>
              <a:t>Dette er bare en måte å øke kraften på! Skal man trene på en kraftidrett så må man selvsagt gjøre det i tillegg…</a:t>
            </a:r>
          </a:p>
          <a:p>
            <a:pPr eaLnBrk="1" hangingPunct="1"/>
            <a:endParaRPr lang="nb-NO" smtClean="0"/>
          </a:p>
          <a:p>
            <a:pPr eaLnBrk="1" hangingPunct="1"/>
            <a:r>
              <a:rPr lang="nb-NO" smtClean="0"/>
              <a:t>Hvorfor går vektløftere dypt? </a:t>
            </a:r>
          </a:p>
          <a:p>
            <a:pPr eaLnBrk="1" hangingPunct="1"/>
            <a:r>
              <a:rPr lang="nb-NO" smtClean="0"/>
              <a:t>Fordi dette er deres idrett. De trener samtidig på kraft og  det funksjonelle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9BF9D6-C402-4CEF-8C72-7E8C176EA1FB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nb-NO" smtClean="0"/>
              <a:t>Poenget er trening av nervesystemet og hjernen</a:t>
            </a:r>
          </a:p>
          <a:p>
            <a:pPr eaLnBrk="1" hangingPunct="1"/>
            <a:endParaRPr lang="nb-NO" smtClean="0"/>
          </a:p>
          <a:p>
            <a:pPr eaLnBrk="1" hangingPunct="1"/>
            <a:r>
              <a:rPr lang="nb-NO" smtClean="0"/>
              <a:t>Dett er hjernetrening!!</a:t>
            </a:r>
          </a:p>
          <a:p>
            <a:pPr eaLnBrk="1" hangingPunct="1"/>
            <a:r>
              <a:rPr lang="nb-NO" smtClean="0"/>
              <a:t>Blateral deficit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4E5180-740A-4493-B8DB-6D3FAC56BE44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F9298B-FF70-45CA-A8EC-CA174831BE6A}" type="slidenum">
              <a:rPr lang="en-US" smtClean="0"/>
              <a:pPr/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49F4A6-8291-49C6-AE9E-469DCCA7B42E}" type="slidenum">
              <a:rPr lang="en-US" smtClean="0"/>
              <a:pPr/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E5A271-D731-4CD7-852C-82A00CB133E9}" type="slidenum">
              <a:rPr lang="en-US" smtClean="0"/>
              <a:pPr/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7A4CFD-51D3-4417-945D-E49CFF919F20}" type="slidenum">
              <a:rPr lang="en-US" smtClean="0"/>
              <a:pPr/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99C7C0-F357-42E0-A947-8D7A68416D73}" type="slidenum">
              <a:rPr lang="en-US" smtClean="0"/>
              <a:pPr/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571F2D-D8BF-48D7-80F2-89FA8D8C11CB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87B725-22B6-4CC6-8C5C-6072C75C89DE}" type="slidenum">
              <a:rPr lang="en-US" smtClean="0"/>
              <a:pPr/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B3FAF4-F5B7-43EC-BB0F-26B27FF95FCB}" type="slidenum">
              <a:rPr lang="en-US" smtClean="0"/>
              <a:pPr/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b-NO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91F78A-A589-4827-8860-5E8E57A0F985}" type="slidenum">
              <a:rPr lang="en-US" smtClean="0"/>
              <a:pPr/>
              <a:t>30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b-N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A94C3-07F8-4FF0-930F-0BE766280A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96AEB-4ABE-4271-A92E-80BECEAF0E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E774AF-2F0E-4758-8920-3A02A4E053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3299F-497F-42C2-9048-AEDA97451C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02528-8669-4FF7-A3E5-88A837F421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255DA-722E-4E77-B1B1-CA90EC956D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00E35-A689-4B7E-8A57-8C88BFFD5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BEC30-16CA-4B4D-B75E-7CF1D0E463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b-N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06798-CB5A-49A1-BA1F-6DE8ACB0A8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98CFD-BFA0-40CA-AA81-1E3F010BC8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B302F-27E8-4850-9326-CD5656A5FA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8A33B-6768-4B9E-BFC9-4DFA9131A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F3ECA-5FF6-4039-9F3A-023535920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nb-NO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748DB-AD21-43D5-9CE9-695CFA864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8B297-585B-47AD-9544-BBA1718DF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nb-NO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C480E-D8FD-4549-BC53-FD24DCA9F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nb-NO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32D24-5121-4967-98D1-6A491B34B8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Klikk for å redigere tittelstil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Klikk for å redigere tekststiler i malen</a:t>
            </a:r>
          </a:p>
          <a:p>
            <a:pPr lvl="1"/>
            <a:r>
              <a:rPr lang="en-US" smtClean="0"/>
              <a:t>Andre nivå</a:t>
            </a:r>
          </a:p>
          <a:p>
            <a:pPr lvl="2"/>
            <a:r>
              <a:rPr lang="en-US" smtClean="0"/>
              <a:t>Tredje nivå</a:t>
            </a:r>
          </a:p>
          <a:p>
            <a:pPr lvl="3"/>
            <a:r>
              <a:rPr lang="en-US" smtClean="0"/>
              <a:t>Fjerde nivå</a:t>
            </a:r>
          </a:p>
          <a:p>
            <a:pPr lvl="4"/>
            <a:r>
              <a:rPr lang="en-US" smtClean="0"/>
              <a:t>Femte nivå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F7ADDE3-F73B-4E06-8118-8744FCEFD9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jpeg"/><Relationship Id="rId6" Type="http://schemas.openxmlformats.org/officeDocument/2006/relationships/image" Target="../media/image2.png"/><Relationship Id="rId1" Type="http://schemas.microsoft.com/office/2007/relationships/media" Target="../media/media1.m4a"/><Relationship Id="rId2" Type="http://schemas.openxmlformats.org/officeDocument/2006/relationships/audio" Target="../media/media1.m4a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3.jpeg"/><Relationship Id="rId6" Type="http://schemas.openxmlformats.org/officeDocument/2006/relationships/image" Target="../media/image2.png"/><Relationship Id="rId1" Type="http://schemas.microsoft.com/office/2007/relationships/media" Target="../media/media2.m4a"/><Relationship Id="rId2" Type="http://schemas.openxmlformats.org/officeDocument/2006/relationships/audio" Target="../media/media2.m4a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1" Type="http://schemas.microsoft.com/office/2007/relationships/media" Target="../media/media3.m4a"/><Relationship Id="rId2" Type="http://schemas.openxmlformats.org/officeDocument/2006/relationships/audio" Target="../media/media3.m4a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5.jpg"/><Relationship Id="rId6" Type="http://schemas.openxmlformats.org/officeDocument/2006/relationships/image" Target="../media/image2.png"/><Relationship Id="rId1" Type="http://schemas.microsoft.com/office/2007/relationships/media" Target="../media/media4.m4a"/><Relationship Id="rId2" Type="http://schemas.openxmlformats.org/officeDocument/2006/relationships/audio" Target="../media/media4.m4a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2.png"/><Relationship Id="rId1" Type="http://schemas.microsoft.com/office/2007/relationships/media" Target="../media/media5.m4a"/><Relationship Id="rId2" Type="http://schemas.openxmlformats.org/officeDocument/2006/relationships/audio" Target="../media/media5.m4a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2.png"/><Relationship Id="rId1" Type="http://schemas.microsoft.com/office/2007/relationships/media" Target="../media/media6.m4a"/><Relationship Id="rId2" Type="http://schemas.openxmlformats.org/officeDocument/2006/relationships/audio" Target="../media/media6.m4a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8.jpeg"/><Relationship Id="rId6" Type="http://schemas.openxmlformats.org/officeDocument/2006/relationships/image" Target="../media/image2.png"/><Relationship Id="rId1" Type="http://schemas.microsoft.com/office/2007/relationships/media" Target="../media/media7.m4a"/><Relationship Id="rId2" Type="http://schemas.openxmlformats.org/officeDocument/2006/relationships/audio" Target="../media/media7.m4a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9.jpeg"/><Relationship Id="rId6" Type="http://schemas.openxmlformats.org/officeDocument/2006/relationships/image" Target="../media/image2.png"/><Relationship Id="rId1" Type="http://schemas.microsoft.com/office/2007/relationships/media" Target="../media/media8.m4a"/><Relationship Id="rId2" Type="http://schemas.openxmlformats.org/officeDocument/2006/relationships/audio" Target="../media/media8.m4a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10.jpeg"/><Relationship Id="rId6" Type="http://schemas.openxmlformats.org/officeDocument/2006/relationships/image" Target="../media/image2.png"/><Relationship Id="rId1" Type="http://schemas.microsoft.com/office/2007/relationships/media" Target="../media/media9.m4a"/><Relationship Id="rId2" Type="http://schemas.openxmlformats.org/officeDocument/2006/relationships/audio" Target="../media/media9.m4a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1" Type="http://schemas.microsoft.com/office/2007/relationships/media" Target="../media/media10.m4a"/><Relationship Id="rId2" Type="http://schemas.openxmlformats.org/officeDocument/2006/relationships/audio" Target="../media/media10.m4a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12.jpeg"/><Relationship Id="rId6" Type="http://schemas.openxmlformats.org/officeDocument/2006/relationships/image" Target="../media/image2.png"/><Relationship Id="rId1" Type="http://schemas.microsoft.com/office/2007/relationships/media" Target="../media/media11.m4a"/><Relationship Id="rId2" Type="http://schemas.openxmlformats.org/officeDocument/2006/relationships/audio" Target="../media/media11.m4a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3.jpeg"/><Relationship Id="rId6" Type="http://schemas.openxmlformats.org/officeDocument/2006/relationships/image" Target="../media/image2.png"/><Relationship Id="rId1" Type="http://schemas.microsoft.com/office/2007/relationships/media" Target="../media/media12.m4a"/><Relationship Id="rId2" Type="http://schemas.openxmlformats.org/officeDocument/2006/relationships/audio" Target="../media/media12.m4a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2.png"/><Relationship Id="rId1" Type="http://schemas.microsoft.com/office/2007/relationships/media" Target="../media/media13.m4a"/><Relationship Id="rId2" Type="http://schemas.openxmlformats.org/officeDocument/2006/relationships/audio" Target="../media/media13.m4a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2.png"/><Relationship Id="rId1" Type="http://schemas.microsoft.com/office/2007/relationships/media" Target="../media/media14.m4a"/><Relationship Id="rId2" Type="http://schemas.openxmlformats.org/officeDocument/2006/relationships/audio" Target="../media/media14.m4a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media15.m4a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5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14.png"/><Relationship Id="rId8" Type="http://schemas.openxmlformats.org/officeDocument/2006/relationships/image" Target="../media/image2.png"/><Relationship Id="rId1" Type="http://schemas.openxmlformats.org/officeDocument/2006/relationships/vmlDrawing" Target="../drawings/vmlDrawing1.vml"/><Relationship Id="rId2" Type="http://schemas.microsoft.com/office/2007/relationships/media" Target="../media/media15.m4a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5.jpg"/><Relationship Id="rId6" Type="http://schemas.openxmlformats.org/officeDocument/2006/relationships/image" Target="../media/image2.png"/><Relationship Id="rId1" Type="http://schemas.microsoft.com/office/2007/relationships/media" Target="../media/media16.m4a"/><Relationship Id="rId2" Type="http://schemas.openxmlformats.org/officeDocument/2006/relationships/audio" Target="../media/media16.m4a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2.png"/><Relationship Id="rId1" Type="http://schemas.microsoft.com/office/2007/relationships/media" Target="../media/media17.m4a"/><Relationship Id="rId2" Type="http://schemas.openxmlformats.org/officeDocument/2006/relationships/audio" Target="../media/media17.m4a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16.jpeg"/><Relationship Id="rId6" Type="http://schemas.openxmlformats.org/officeDocument/2006/relationships/image" Target="../media/image2.png"/><Relationship Id="rId1" Type="http://schemas.microsoft.com/office/2007/relationships/media" Target="../media/media18.m4a"/><Relationship Id="rId2" Type="http://schemas.openxmlformats.org/officeDocument/2006/relationships/audio" Target="../media/media18.m4a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17.jpeg"/><Relationship Id="rId6" Type="http://schemas.openxmlformats.org/officeDocument/2006/relationships/image" Target="../media/image2.png"/><Relationship Id="rId1" Type="http://schemas.microsoft.com/office/2007/relationships/media" Target="../media/media19.m4a"/><Relationship Id="rId2" Type="http://schemas.openxmlformats.org/officeDocument/2006/relationships/audio" Target="../media/media19.m4a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18.jpeg"/><Relationship Id="rId6" Type="http://schemas.openxmlformats.org/officeDocument/2006/relationships/image" Target="../media/image2.png"/><Relationship Id="rId1" Type="http://schemas.microsoft.com/office/2007/relationships/media" Target="../media/media20.m4a"/><Relationship Id="rId2" Type="http://schemas.openxmlformats.org/officeDocument/2006/relationships/audio" Target="../media/media20.m4a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19.jpeg"/><Relationship Id="rId6" Type="http://schemas.openxmlformats.org/officeDocument/2006/relationships/image" Target="../media/image2.png"/><Relationship Id="rId1" Type="http://schemas.microsoft.com/office/2007/relationships/media" Target="../media/media21.m4a"/><Relationship Id="rId2" Type="http://schemas.openxmlformats.org/officeDocument/2006/relationships/audio" Target="../media/media21.m4a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20.jpeg"/><Relationship Id="rId6" Type="http://schemas.openxmlformats.org/officeDocument/2006/relationships/image" Target="../media/image2.png"/><Relationship Id="rId1" Type="http://schemas.microsoft.com/office/2007/relationships/media" Target="../media/media22.m4a"/><Relationship Id="rId2" Type="http://schemas.openxmlformats.org/officeDocument/2006/relationships/audio" Target="../media/media22.m4a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3.xml"/><Relationship Id="rId5" Type="http://schemas.openxmlformats.org/officeDocument/2006/relationships/image" Target="../media/image20.jpeg"/><Relationship Id="rId6" Type="http://schemas.openxmlformats.org/officeDocument/2006/relationships/image" Target="../media/image2.png"/><Relationship Id="rId1" Type="http://schemas.microsoft.com/office/2007/relationships/media" Target="../media/media23.m4a"/><Relationship Id="rId2" Type="http://schemas.openxmlformats.org/officeDocument/2006/relationships/audio" Target="../media/media23.m4a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4.xml"/><Relationship Id="rId5" Type="http://schemas.openxmlformats.org/officeDocument/2006/relationships/image" Target="../media/image21.png"/><Relationship Id="rId6" Type="http://schemas.openxmlformats.org/officeDocument/2006/relationships/image" Target="../media/image2.png"/><Relationship Id="rId1" Type="http://schemas.microsoft.com/office/2007/relationships/media" Target="../media/media24.m4a"/><Relationship Id="rId2" Type="http://schemas.openxmlformats.org/officeDocument/2006/relationships/audio" Target="../media/media24.m4a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22.jpeg"/><Relationship Id="rId6" Type="http://schemas.openxmlformats.org/officeDocument/2006/relationships/image" Target="../media/image2.png"/><Relationship Id="rId1" Type="http://schemas.microsoft.com/office/2007/relationships/media" Target="../media/media25.m4a"/><Relationship Id="rId2" Type="http://schemas.openxmlformats.org/officeDocument/2006/relationships/audio" Target="../media/media25.m4a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6.xml"/><Relationship Id="rId5" Type="http://schemas.openxmlformats.org/officeDocument/2006/relationships/image" Target="../media/image23.jpeg"/><Relationship Id="rId6" Type="http://schemas.openxmlformats.org/officeDocument/2006/relationships/image" Target="../media/image2.png"/><Relationship Id="rId1" Type="http://schemas.microsoft.com/office/2007/relationships/media" Target="../media/media26.m4a"/><Relationship Id="rId2" Type="http://schemas.openxmlformats.org/officeDocument/2006/relationships/audio" Target="../media/media26.m4a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media27.m4a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27.xml"/><Relationship Id="rId6" Type="http://schemas.openxmlformats.org/officeDocument/2006/relationships/oleObject" Target="../embeddings/Microsoft_Word_97_-_2004_Document1.doc"/><Relationship Id="rId7" Type="http://schemas.openxmlformats.org/officeDocument/2006/relationships/image" Target="../media/image24.wmf"/><Relationship Id="rId8" Type="http://schemas.openxmlformats.org/officeDocument/2006/relationships/image" Target="../media/image2.png"/><Relationship Id="rId1" Type="http://schemas.openxmlformats.org/officeDocument/2006/relationships/vmlDrawing" Target="../drawings/vmlDrawing2.vml"/><Relationship Id="rId2" Type="http://schemas.microsoft.com/office/2007/relationships/media" Target="../media/media27.m4a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28.xml"/><Relationship Id="rId5" Type="http://schemas.openxmlformats.org/officeDocument/2006/relationships/image" Target="../media/image25.jpeg"/><Relationship Id="rId6" Type="http://schemas.openxmlformats.org/officeDocument/2006/relationships/image" Target="../media/image2.png"/><Relationship Id="rId1" Type="http://schemas.microsoft.com/office/2007/relationships/media" Target="../media/media28.m4a"/><Relationship Id="rId2" Type="http://schemas.openxmlformats.org/officeDocument/2006/relationships/audio" Target="../media/media28.m4a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media29.m4a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29.xml"/><Relationship Id="rId6" Type="http://schemas.openxmlformats.org/officeDocument/2006/relationships/oleObject" Target="../embeddings/Microsoft_Word_97_-_2004_Document2.doc"/><Relationship Id="rId7" Type="http://schemas.openxmlformats.org/officeDocument/2006/relationships/image" Target="../media/image26.wmf"/><Relationship Id="rId8" Type="http://schemas.openxmlformats.org/officeDocument/2006/relationships/image" Target="../media/image2.png"/><Relationship Id="rId1" Type="http://schemas.openxmlformats.org/officeDocument/2006/relationships/vmlDrawing" Target="../drawings/vmlDrawing3.vml"/><Relationship Id="rId2" Type="http://schemas.microsoft.com/office/2007/relationships/media" Target="../media/media29.m4a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media30.m4a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30.xml"/><Relationship Id="rId6" Type="http://schemas.openxmlformats.org/officeDocument/2006/relationships/oleObject" Target="../embeddings/Microsoft_Excel_97_-_2004_Worksheet3.xls"/><Relationship Id="rId7" Type="http://schemas.openxmlformats.org/officeDocument/2006/relationships/image" Target="../media/image27.png"/><Relationship Id="rId8" Type="http://schemas.openxmlformats.org/officeDocument/2006/relationships/image" Target="../media/image2.png"/><Relationship Id="rId1" Type="http://schemas.openxmlformats.org/officeDocument/2006/relationships/vmlDrawing" Target="../drawings/vmlDrawing4.vml"/><Relationship Id="rId2" Type="http://schemas.microsoft.com/office/2007/relationships/media" Target="../media/media30.m4a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4" Type="http://schemas.openxmlformats.org/officeDocument/2006/relationships/image" Target="../media/image28.jpeg"/><Relationship Id="rId5" Type="http://schemas.openxmlformats.org/officeDocument/2006/relationships/image" Target="../media/image2.png"/><Relationship Id="rId1" Type="http://schemas.microsoft.com/office/2007/relationships/media" Target="../media/media31.m4a"/><Relationship Id="rId2" Type="http://schemas.openxmlformats.org/officeDocument/2006/relationships/audio" Target="../media/media31.m4a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4" Type="http://schemas.openxmlformats.org/officeDocument/2006/relationships/image" Target="../media/image28.jpeg"/><Relationship Id="rId5" Type="http://schemas.openxmlformats.org/officeDocument/2006/relationships/image" Target="../media/image2.png"/><Relationship Id="rId1" Type="http://schemas.microsoft.com/office/2007/relationships/media" Target="../media/media32.m4a"/><Relationship Id="rId2" Type="http://schemas.openxmlformats.org/officeDocument/2006/relationships/audio" Target="../media/media32.m4a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image" Target="../media/image29.jpeg"/><Relationship Id="rId5" Type="http://schemas.openxmlformats.org/officeDocument/2006/relationships/image" Target="../media/image2.png"/><Relationship Id="rId1" Type="http://schemas.microsoft.com/office/2007/relationships/media" Target="../media/media33.m4a"/><Relationship Id="rId2" Type="http://schemas.openxmlformats.org/officeDocument/2006/relationships/audio" Target="../media/media33.m4a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image" Target="../media/image2.png"/><Relationship Id="rId1" Type="http://schemas.microsoft.com/office/2007/relationships/media" Target="../media/media34.m4a"/><Relationship Id="rId2" Type="http://schemas.openxmlformats.org/officeDocument/2006/relationships/audio" Target="../media/media34.m4a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0.tiff"/><Relationship Id="rId5" Type="http://schemas.openxmlformats.org/officeDocument/2006/relationships/image" Target="../media/image2.png"/><Relationship Id="rId1" Type="http://schemas.microsoft.com/office/2007/relationships/media" Target="../media/media35.m4a"/><Relationship Id="rId2" Type="http://schemas.openxmlformats.org/officeDocument/2006/relationships/audio" Target="../media/media35.m4a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4" Type="http://schemas.openxmlformats.org/officeDocument/2006/relationships/image" Target="../media/image31.tiff"/><Relationship Id="rId5" Type="http://schemas.openxmlformats.org/officeDocument/2006/relationships/image" Target="../media/image2.png"/><Relationship Id="rId1" Type="http://schemas.microsoft.com/office/2007/relationships/media" Target="../media/media36.m4a"/><Relationship Id="rId2" Type="http://schemas.openxmlformats.org/officeDocument/2006/relationships/audio" Target="../media/media36.m4a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4" Type="http://schemas.openxmlformats.org/officeDocument/2006/relationships/image" Target="../media/image32.tiff"/><Relationship Id="rId5" Type="http://schemas.openxmlformats.org/officeDocument/2006/relationships/image" Target="../media/image2.png"/><Relationship Id="rId1" Type="http://schemas.microsoft.com/office/2007/relationships/media" Target="../media/media37.m4a"/><Relationship Id="rId2" Type="http://schemas.openxmlformats.org/officeDocument/2006/relationships/audio" Target="../media/media37.m4a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/>
          <p:cNvSpPr txBox="1">
            <a:spLocks noChangeArrowheads="1"/>
          </p:cNvSpPr>
          <p:nvPr/>
        </p:nvSpPr>
        <p:spPr bwMode="auto">
          <a:xfrm>
            <a:off x="5219700" y="1722438"/>
            <a:ext cx="3744913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nb-NO" sz="4400">
                <a:solidFill>
                  <a:schemeClr val="bg1"/>
                </a:solidFill>
                <a:latin typeface="Times New Roman" pitchFamily="18" charset="0"/>
              </a:rPr>
              <a:t>Hva er styrke?</a:t>
            </a:r>
            <a:br>
              <a:rPr lang="nb-NO" sz="44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nb-NO" sz="4400">
                <a:solidFill>
                  <a:schemeClr val="bg1"/>
                </a:solidFill>
                <a:latin typeface="Times New Roman" pitchFamily="18" charset="0"/>
              </a:rPr>
              <a:t>Hvordan trene?</a:t>
            </a:r>
            <a:endParaRPr lang="nb-NO" sz="440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075" name="Text Box 5"/>
          <p:cNvSpPr txBox="1">
            <a:spLocks noChangeArrowheads="1"/>
          </p:cNvSpPr>
          <p:nvPr/>
        </p:nvSpPr>
        <p:spPr bwMode="auto">
          <a:xfrm>
            <a:off x="5436096" y="5677326"/>
            <a:ext cx="198804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400" dirty="0">
                <a:solidFill>
                  <a:schemeClr val="bg1"/>
                </a:solidFill>
                <a:latin typeface="Calibri" pitchFamily="34" charset="0"/>
              </a:rPr>
              <a:t>Eivind Wang, </a:t>
            </a:r>
          </a:p>
          <a:p>
            <a:r>
              <a:rPr lang="nb-NO" sz="2400" dirty="0" smtClean="0">
                <a:solidFill>
                  <a:schemeClr val="bg1"/>
                </a:solidFill>
                <a:latin typeface="Calibri" pitchFamily="34" charset="0"/>
              </a:rPr>
              <a:t>Professor, </a:t>
            </a:r>
            <a:r>
              <a:rPr lang="nb-NO" sz="2400" dirty="0" err="1" smtClean="0">
                <a:solidFill>
                  <a:schemeClr val="bg1"/>
                </a:solidFill>
                <a:latin typeface="Calibri" pitchFamily="34" charset="0"/>
              </a:rPr>
              <a:t>PhD</a:t>
            </a:r>
            <a:endParaRPr lang="nb-NO" sz="24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3077" name="Picture 1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51927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7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69697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nb-NO" sz="3600" smtClean="0">
                <a:latin typeface="Times New Roman" pitchFamily="18" charset="0"/>
              </a:rPr>
              <a:t>Vår biologiske arv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55650" y="1600200"/>
            <a:ext cx="3740150" cy="4525963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endParaRPr lang="nb-NO" sz="2400" dirty="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nb-NO" sz="2400" dirty="0" smtClean="0">
                <a:latin typeface="Times New Roman" pitchFamily="18" charset="0"/>
              </a:rPr>
              <a:t>Våre gener er tilpasset fysisk aktivitet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endParaRPr lang="nb-NO" sz="2400" dirty="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nb-NO" sz="2400" dirty="0" smtClean="0">
                <a:latin typeface="Times New Roman" pitchFamily="18" charset="0"/>
              </a:rPr>
              <a:t>Vi blir syke om vi er inaktive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endParaRPr lang="nb-NO" sz="2400" dirty="0" smtClean="0">
              <a:latin typeface="Times New Roman" pitchFamily="18" charset="0"/>
            </a:endParaRPr>
          </a:p>
        </p:txBody>
      </p:sp>
      <p:pic>
        <p:nvPicPr>
          <p:cNvPr id="4100" name="Picture 9" descr="Charles_Darwin_0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905375" y="1600200"/>
            <a:ext cx="3522663" cy="4525963"/>
          </a:xfrm>
          <a:noFill/>
        </p:spPr>
      </p:pic>
      <p:sp>
        <p:nvSpPr>
          <p:cNvPr id="4102" name="TextBox 7"/>
          <p:cNvSpPr txBox="1">
            <a:spLocks noChangeArrowheads="1"/>
          </p:cNvSpPr>
          <p:nvPr/>
        </p:nvSpPr>
        <p:spPr bwMode="auto">
          <a:xfrm>
            <a:off x="6659563" y="6092825"/>
            <a:ext cx="16414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>
                <a:latin typeface="Times New Roman" pitchFamily="18" charset="0"/>
                <a:cs typeface="Times New Roman" pitchFamily="18" charset="0"/>
              </a:rPr>
              <a:t>Charles Darwin</a:t>
            </a:r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2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smtClean="0">
                <a:latin typeface="Times New Roman" pitchFamily="18" charset="0"/>
              </a:rPr>
              <a:t>Hvorfor trening?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0113" y="1600200"/>
            <a:ext cx="3595687" cy="4525963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nb-NO" sz="2800" dirty="0" smtClean="0">
                <a:latin typeface="Times New Roman" pitchFamily="18" charset="0"/>
              </a:rPr>
              <a:t>Vi tilpasses aktivitet og inaktivitet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endParaRPr lang="nb-NO" sz="2800" dirty="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endParaRPr lang="nb-NO" sz="2800" dirty="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nb-NO" sz="2800" dirty="0" smtClean="0">
                <a:latin typeface="Times New Roman" pitchFamily="18" charset="0"/>
              </a:rPr>
              <a:t>Helse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nb-NO" sz="2800" dirty="0" smtClean="0">
                <a:latin typeface="Times New Roman" pitchFamily="18" charset="0"/>
              </a:rPr>
              <a:t>Prestasjon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nb-NO" sz="2800" dirty="0" smtClean="0">
                <a:latin typeface="Times New Roman" pitchFamily="18" charset="0"/>
              </a:rPr>
              <a:t>Livskvalitet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endParaRPr lang="nb-NO" sz="2800" dirty="0" smtClean="0">
              <a:latin typeface="Times New Roman" pitchFamily="18" charset="0"/>
            </a:endParaRPr>
          </a:p>
        </p:txBody>
      </p:sp>
      <p:sp>
        <p:nvSpPr>
          <p:cNvPr id="5125" name="TextBox 7"/>
          <p:cNvSpPr txBox="1">
            <a:spLocks noChangeArrowheads="1"/>
          </p:cNvSpPr>
          <p:nvPr/>
        </p:nvSpPr>
        <p:spPr bwMode="auto">
          <a:xfrm>
            <a:off x="6588125" y="5661025"/>
            <a:ext cx="2273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>
                <a:latin typeface="Times New Roman" pitchFamily="18" charset="0"/>
                <a:cs typeface="Times New Roman" pitchFamily="18" charset="0"/>
              </a:rPr>
              <a:t>Hvilken vei velger du?</a:t>
            </a:r>
          </a:p>
        </p:txBody>
      </p:sp>
      <p:pic>
        <p:nvPicPr>
          <p:cNvPr id="5126" name="Picture 9" descr="two way traffic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1225" y="1841500"/>
            <a:ext cx="4171950" cy="374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013"/>
            <a:ext cx="9144000" cy="1143001"/>
          </a:xfrm>
        </p:spPr>
        <p:txBody>
          <a:bodyPr/>
          <a:lstStyle/>
          <a:p>
            <a:r>
              <a:rPr lang="nb-NO" altLang="nb-NO" sz="5400" b="1">
                <a:solidFill>
                  <a:schemeClr val="bg1"/>
                </a:solidFill>
              </a:rPr>
              <a:t>Trening</a:t>
            </a:r>
            <a:r>
              <a:rPr lang="nb-NO" altLang="nb-NO" sz="4800" b="1">
                <a:solidFill>
                  <a:schemeClr val="bg1"/>
                </a:solidFill>
              </a:rPr>
              <a:t> er ferskvare!</a:t>
            </a:r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1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smtClean="0">
                <a:solidFill>
                  <a:schemeClr val="tx1"/>
                </a:solidFill>
                <a:latin typeface="Times New Roman" pitchFamily="18" charset="0"/>
              </a:rPr>
              <a:t>Fysisk trening</a:t>
            </a:r>
            <a:r>
              <a:rPr lang="nb-NO" sz="360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nb-NO" sz="3600" smtClean="0">
                <a:latin typeface="Times New Roman" pitchFamily="18" charset="0"/>
              </a:rPr>
              <a:t/>
            </a:r>
            <a:br>
              <a:rPr lang="nb-NO" sz="3600" smtClean="0">
                <a:latin typeface="Times New Roman" pitchFamily="18" charset="0"/>
              </a:rPr>
            </a:br>
            <a:endParaRPr lang="nb-NO" sz="3600" smtClean="0">
              <a:latin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nb-NO" sz="2400" smtClean="0">
              <a:latin typeface="Times New Roman" pitchFamily="18" charset="0"/>
            </a:endParaRPr>
          </a:p>
          <a:p>
            <a:pPr eaLnBrk="1" hangingPunct="1"/>
            <a:r>
              <a:rPr lang="nb-NO" sz="2800" smtClean="0">
                <a:latin typeface="Times New Roman" pitchFamily="18" charset="0"/>
              </a:rPr>
              <a:t>Deles i 2 hoveddeler:</a:t>
            </a:r>
          </a:p>
          <a:p>
            <a:pPr eaLnBrk="1" hangingPunct="1"/>
            <a:endParaRPr lang="nb-NO" sz="2800" smtClean="0">
              <a:latin typeface="Times New Roman" pitchFamily="18" charset="0"/>
            </a:endParaRPr>
          </a:p>
          <a:p>
            <a:pPr lvl="1" eaLnBrk="1" hangingPunct="1"/>
            <a:r>
              <a:rPr lang="nb-NO" smtClean="0">
                <a:latin typeface="Times New Roman" pitchFamily="18" charset="0"/>
              </a:rPr>
              <a:t>Utholdenhet</a:t>
            </a:r>
          </a:p>
          <a:p>
            <a:pPr lvl="1" eaLnBrk="1" hangingPunct="1"/>
            <a:r>
              <a:rPr lang="nb-NO" smtClean="0">
                <a:latin typeface="Times New Roman" pitchFamily="18" charset="0"/>
              </a:rPr>
              <a:t>Styrke</a:t>
            </a:r>
          </a:p>
          <a:p>
            <a:pPr lvl="1" eaLnBrk="1" hangingPunct="1"/>
            <a:endParaRPr lang="nb-NO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nb-NO" sz="2800" smtClean="0">
              <a:latin typeface="Times New Roman" pitchFamily="18" charset="0"/>
            </a:endParaRPr>
          </a:p>
        </p:txBody>
      </p:sp>
      <p:pic>
        <p:nvPicPr>
          <p:cNvPr id="7" name="Picture 5" descr="491px-Heart_left-highlight_jon_01_svg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00192" y="1531858"/>
            <a:ext cx="2444080" cy="2275031"/>
          </a:xfr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539028"/>
            <a:ext cx="2276856" cy="2935224"/>
          </a:xfrm>
          <a:prstGeom prst="rect">
            <a:avLst/>
          </a:prstGeom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7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25413"/>
            <a:ext cx="8785225" cy="1143000"/>
          </a:xfrm>
        </p:spPr>
        <p:txBody>
          <a:bodyPr/>
          <a:lstStyle/>
          <a:p>
            <a:pPr eaLnBrk="1" hangingPunct="1"/>
            <a:r>
              <a:rPr lang="nb-NO" sz="3600" smtClean="0">
                <a:solidFill>
                  <a:schemeClr val="tx1"/>
                </a:solidFill>
                <a:latin typeface="Times New Roman" pitchFamily="18" charset="0"/>
              </a:rPr>
              <a:t>Trening er </a:t>
            </a:r>
            <a:r>
              <a:rPr lang="nb-NO" sz="3600" smtClean="0">
                <a:solidFill>
                  <a:srgbClr val="FF0000"/>
                </a:solidFill>
                <a:latin typeface="Times New Roman" pitchFamily="18" charset="0"/>
              </a:rPr>
              <a:t>medisin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785225" cy="5257800"/>
          </a:xfrm>
        </p:spPr>
        <p:txBody>
          <a:bodyPr/>
          <a:lstStyle/>
          <a:p>
            <a:pPr eaLnBrk="1" hangingPunct="1"/>
            <a:endParaRPr lang="nb-NO" sz="2400" smtClean="0">
              <a:latin typeface="Times New Roman" pitchFamily="18" charset="0"/>
            </a:endParaRPr>
          </a:p>
          <a:p>
            <a:pPr eaLnBrk="1" hangingPunct="1"/>
            <a:r>
              <a:rPr lang="nb-NO" sz="2400" smtClean="0">
                <a:latin typeface="Times New Roman" pitchFamily="18" charset="0"/>
              </a:rPr>
              <a:t>“Fysisk kapasitet er den mest kraftfulle prediktoren for hjerte-karsykdom og mortalitet”</a:t>
            </a:r>
          </a:p>
          <a:p>
            <a:pPr lvl="3" algn="r" eaLnBrk="1" hangingPunct="1">
              <a:buFontTx/>
              <a:buNone/>
            </a:pPr>
            <a:r>
              <a:rPr lang="nb-NO" sz="1600" i="1" smtClean="0">
                <a:latin typeface="Times New Roman" pitchFamily="18" charset="0"/>
              </a:rPr>
              <a:t>Myers et al. 2002 N.Eng.Med</a:t>
            </a:r>
          </a:p>
          <a:p>
            <a:pPr lvl="3" algn="r" eaLnBrk="1" hangingPunct="1">
              <a:buFontTx/>
              <a:buNone/>
            </a:pPr>
            <a:endParaRPr lang="nb-NO" sz="1600" i="1" smtClean="0">
              <a:latin typeface="Times New Roman" pitchFamily="18" charset="0"/>
            </a:endParaRPr>
          </a:p>
          <a:p>
            <a:pPr eaLnBrk="1" hangingPunct="1"/>
            <a:endParaRPr lang="nb-NO" sz="2400" smtClean="0">
              <a:latin typeface="Times New Roman" pitchFamily="18" charset="0"/>
            </a:endParaRPr>
          </a:p>
          <a:p>
            <a:pPr eaLnBrk="1" hangingPunct="1"/>
            <a:r>
              <a:rPr lang="nb-NO" sz="2400" smtClean="0">
                <a:latin typeface="Times New Roman" pitchFamily="18" charset="0"/>
              </a:rPr>
              <a:t>“Bedret muskelstyrke reduserer risiko for kreft og død”</a:t>
            </a:r>
          </a:p>
          <a:p>
            <a:pPr lvl="3" algn="r" eaLnBrk="1" hangingPunct="1">
              <a:buFontTx/>
              <a:buNone/>
            </a:pPr>
            <a:r>
              <a:rPr lang="nb-NO" sz="1600" i="1" smtClean="0">
                <a:latin typeface="Times New Roman" pitchFamily="18" charset="0"/>
              </a:rPr>
              <a:t>Ruiz et al. 2008 BMJ</a:t>
            </a:r>
          </a:p>
          <a:p>
            <a:pPr lvl="3" algn="r" eaLnBrk="1" hangingPunct="1">
              <a:buFontTx/>
              <a:buNone/>
            </a:pPr>
            <a:endParaRPr lang="nb-NO" sz="1600" i="1" smtClean="0">
              <a:latin typeface="Times New Roman" pitchFamily="18" charset="0"/>
            </a:endParaRPr>
          </a:p>
          <a:p>
            <a:pPr eaLnBrk="1" hangingPunct="1"/>
            <a:endParaRPr lang="nb-NO" sz="2400" i="1" smtClean="0">
              <a:latin typeface="Times New Roman" pitchFamily="18" charset="0"/>
            </a:endParaRPr>
          </a:p>
          <a:p>
            <a:pPr eaLnBrk="1" hangingPunct="1"/>
            <a:endParaRPr lang="nb-NO" sz="1600" i="1" smtClean="0">
              <a:latin typeface="Times New Roman" pitchFamily="18" charset="0"/>
            </a:endParaRPr>
          </a:p>
          <a:p>
            <a:pPr eaLnBrk="1" hangingPunct="1"/>
            <a:endParaRPr lang="nb-NO" sz="2000" smtClean="0">
              <a:latin typeface="Times New Roman" pitchFamily="18" charset="0"/>
            </a:endParaRPr>
          </a:p>
          <a:p>
            <a:pPr eaLnBrk="1" hangingPunct="1"/>
            <a:endParaRPr lang="nb-NO" smtClean="0">
              <a:latin typeface="Times New Roman" pitchFamily="18" charset="0"/>
            </a:endParaRPr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07904" y="4581128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3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yers et al"/>
          <p:cNvPicPr>
            <a:picLocks noGrp="1" noChangeAspect="1" noChangeArrowheads="1"/>
          </p:cNvPicPr>
          <p:nvPr>
            <p:ph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0" y="28575"/>
            <a:ext cx="9144000" cy="6861175"/>
          </a:xfrm>
          <a:noFill/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68344" y="28575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2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Myers et al"/>
          <p:cNvPicPr>
            <a:picLocks noGrp="1" noChangeAspect="1" noChangeArrowheads="1"/>
          </p:cNvPicPr>
          <p:nvPr>
            <p:ph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0" y="22225"/>
            <a:ext cx="9144000" cy="6718300"/>
          </a:xfrm>
          <a:noFill/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0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6" descr="ruiz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-6350"/>
            <a:ext cx="9144000" cy="686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8" name="Text Box 8"/>
          <p:cNvSpPr txBox="1">
            <a:spLocks noChangeArrowheads="1"/>
          </p:cNvSpPr>
          <p:nvPr/>
        </p:nvSpPr>
        <p:spPr bwMode="auto">
          <a:xfrm>
            <a:off x="7596188" y="6524625"/>
            <a:ext cx="15128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nb-NO" sz="1400" i="1"/>
              <a:t>Ruiz et al. 2008</a:t>
            </a:r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9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smtClean="0">
                <a:latin typeface="Times New Roman" pitchFamily="18" charset="0"/>
              </a:rPr>
              <a:t>Trening for </a:t>
            </a:r>
            <a:r>
              <a:rPr lang="nb-NO" sz="3600" smtClean="0">
                <a:solidFill>
                  <a:srgbClr val="FF0000"/>
                </a:solidFill>
                <a:latin typeface="Times New Roman" pitchFamily="18" charset="0"/>
              </a:rPr>
              <a:t>prestasjon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nb-NO" sz="2800" dirty="0" smtClean="0">
              <a:latin typeface="Times New Roman" pitchFamily="18" charset="0"/>
            </a:endParaRPr>
          </a:p>
          <a:p>
            <a:pPr eaLnBrk="1" hangingPunct="1"/>
            <a:r>
              <a:rPr lang="nb-NO" sz="2800" dirty="0" smtClean="0">
                <a:latin typeface="Times New Roman" pitchFamily="18" charset="0"/>
              </a:rPr>
              <a:t>Trening kan også brukes til å bedre prestasjon</a:t>
            </a: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Hjerte/utholdenhet</a:t>
            </a: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Skjelettmuskel/styrke</a:t>
            </a:r>
          </a:p>
          <a:p>
            <a:pPr lvl="1" eaLnBrk="1" hangingPunct="1"/>
            <a:endParaRPr lang="nb-NO" sz="2400" dirty="0" smtClean="0">
              <a:latin typeface="Times New Roman" pitchFamily="18" charset="0"/>
            </a:endParaRPr>
          </a:p>
          <a:p>
            <a:pPr eaLnBrk="1" hangingPunct="1"/>
            <a:r>
              <a:rPr lang="nb-NO" sz="2800" dirty="0" smtClean="0">
                <a:latin typeface="Times New Roman" pitchFamily="18" charset="0"/>
              </a:rPr>
              <a:t>Idrett</a:t>
            </a:r>
          </a:p>
          <a:p>
            <a:pPr eaLnBrk="1" hangingPunct="1"/>
            <a:r>
              <a:rPr lang="nb-NO" sz="2800" dirty="0" smtClean="0">
                <a:latin typeface="Times New Roman" pitchFamily="18" charset="0"/>
              </a:rPr>
              <a:t>Eldre</a:t>
            </a:r>
          </a:p>
          <a:p>
            <a:pPr eaLnBrk="1" hangingPunct="1"/>
            <a:r>
              <a:rPr lang="nb-NO" sz="2800" dirty="0" smtClean="0">
                <a:latin typeface="Times New Roman" pitchFamily="18" charset="0"/>
              </a:rPr>
              <a:t>Pasienter</a:t>
            </a:r>
          </a:p>
        </p:txBody>
      </p:sp>
      <p:pic>
        <p:nvPicPr>
          <p:cNvPr id="13316" name="Picture 8" descr="funny_animals_pictures_15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5207000" y="1916113"/>
            <a:ext cx="2716213" cy="4210050"/>
          </a:xfrm>
          <a:noFill/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0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smtClean="0">
                <a:latin typeface="Times New Roman" pitchFamily="18" charset="0"/>
              </a:rPr>
              <a:t>Trening er </a:t>
            </a:r>
            <a:r>
              <a:rPr lang="nb-NO" sz="3600" smtClean="0">
                <a:solidFill>
                  <a:srgbClr val="FF0000"/>
                </a:solidFill>
                <a:latin typeface="Times New Roman" pitchFamily="18" charset="0"/>
              </a:rPr>
              <a:t>livskvalitet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578769"/>
            <a:ext cx="4038600" cy="4525963"/>
          </a:xfrm>
        </p:spPr>
        <p:txBody>
          <a:bodyPr/>
          <a:lstStyle/>
          <a:p>
            <a:pPr eaLnBrk="1" hangingPunct="1"/>
            <a:r>
              <a:rPr lang="nb-NO" sz="2800" dirty="0" smtClean="0">
                <a:latin typeface="Times New Roman" pitchFamily="18" charset="0"/>
              </a:rPr>
              <a:t>Helse ⬆</a:t>
            </a:r>
          </a:p>
          <a:p>
            <a:pPr eaLnBrk="1" hangingPunct="1"/>
            <a:r>
              <a:rPr lang="nb-NO" sz="2800" dirty="0" smtClean="0">
                <a:latin typeface="Times New Roman" pitchFamily="18" charset="0"/>
              </a:rPr>
              <a:t>Prestasjon ⬆</a:t>
            </a:r>
          </a:p>
          <a:p>
            <a:pPr marL="0" indent="0" eaLnBrk="1" hangingPunct="1">
              <a:buNone/>
            </a:pPr>
            <a:r>
              <a:rPr lang="nb-NO" sz="2800" dirty="0" smtClean="0">
                <a:latin typeface="Times New Roman" pitchFamily="18" charset="0"/>
              </a:rPr>
              <a:t>            ⇓ </a:t>
            </a:r>
            <a:endParaRPr lang="nb-NO" sz="2800" dirty="0">
              <a:latin typeface="Times New Roman" pitchFamily="18" charset="0"/>
            </a:endParaRPr>
          </a:p>
          <a:p>
            <a:pPr eaLnBrk="1" hangingPunct="1"/>
            <a:r>
              <a:rPr lang="nb-NO" sz="2800" dirty="0" smtClean="0">
                <a:latin typeface="Times New Roman" pitchFamily="18" charset="0"/>
              </a:rPr>
              <a:t>Livskvalitet </a:t>
            </a:r>
            <a:r>
              <a:rPr lang="nb-NO" sz="2800" dirty="0">
                <a:latin typeface="Times New Roman" pitchFamily="18" charset="0"/>
              </a:rPr>
              <a:t>⬆</a:t>
            </a:r>
            <a:endParaRPr lang="nb-NO" sz="2800" dirty="0" smtClean="0">
              <a:latin typeface="Times New Roman" pitchFamily="18" charset="0"/>
            </a:endParaRPr>
          </a:p>
          <a:p>
            <a:pPr eaLnBrk="1" hangingPunct="1"/>
            <a:endParaRPr lang="nb-NO" sz="2800" dirty="0" smtClean="0">
              <a:latin typeface="Times New Roman" pitchFamily="18" charset="0"/>
            </a:endParaRP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Energi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Relativ kostnad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Overskudd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Overvekt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Skader</a:t>
            </a:r>
          </a:p>
        </p:txBody>
      </p:sp>
      <p:pic>
        <p:nvPicPr>
          <p:cNvPr id="14341" name="Picture 7" descr="corbi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4300" y="2060575"/>
            <a:ext cx="4902200" cy="328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0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smtClean="0">
                <a:solidFill>
                  <a:schemeClr val="bg1"/>
                </a:solidFill>
                <a:latin typeface="Times New Roman" pitchFamily="18" charset="0"/>
              </a:rPr>
              <a:t>Effektiv styrketrening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nb-NO" sz="2400" smtClean="0">
                <a:solidFill>
                  <a:schemeClr val="bg1"/>
                </a:solidFill>
                <a:latin typeface="Times New Roman" pitchFamily="18" charset="0"/>
              </a:rPr>
              <a:t>Hvis viktig for prestasjon, helse og livskvalitet:</a:t>
            </a:r>
          </a:p>
          <a:p>
            <a:pPr eaLnBrk="1" hangingPunct="1"/>
            <a:endParaRPr lang="nb-NO" sz="2400" smtClean="0">
              <a:solidFill>
                <a:schemeClr val="bg1"/>
              </a:solidFill>
              <a:latin typeface="Times New Roman" pitchFamily="18" charset="0"/>
            </a:endParaRPr>
          </a:p>
          <a:p>
            <a:pPr eaLnBrk="1" hangingPunct="1"/>
            <a:r>
              <a:rPr lang="nb-NO" sz="2400" smtClean="0">
                <a:solidFill>
                  <a:schemeClr val="bg1"/>
                </a:solidFill>
                <a:latin typeface="Times New Roman" pitchFamily="18" charset="0"/>
              </a:rPr>
              <a:t>Hvilken trening er effektiv</a:t>
            </a:r>
          </a:p>
          <a:p>
            <a:pPr lvl="1" eaLnBrk="1" hangingPunct="1"/>
            <a:r>
              <a:rPr lang="nb-NO" sz="2400" smtClean="0">
                <a:solidFill>
                  <a:schemeClr val="bg1"/>
                </a:solidFill>
                <a:latin typeface="Times New Roman" pitchFamily="18" charset="0"/>
              </a:rPr>
              <a:t>Medisin</a:t>
            </a:r>
          </a:p>
          <a:p>
            <a:pPr lvl="1" eaLnBrk="1" hangingPunct="1"/>
            <a:r>
              <a:rPr lang="nb-NO" sz="2400" smtClean="0">
                <a:solidFill>
                  <a:schemeClr val="bg1"/>
                </a:solidFill>
                <a:latin typeface="Times New Roman" pitchFamily="18" charset="0"/>
              </a:rPr>
              <a:t>Prestasjon</a:t>
            </a:r>
          </a:p>
          <a:p>
            <a:pPr lvl="1" eaLnBrk="1" hangingPunct="1"/>
            <a:r>
              <a:rPr lang="nb-NO" sz="2400" smtClean="0">
                <a:solidFill>
                  <a:schemeClr val="bg1"/>
                </a:solidFill>
                <a:latin typeface="Times New Roman" pitchFamily="18" charset="0"/>
              </a:rPr>
              <a:t>Livskvalitet</a:t>
            </a:r>
          </a:p>
          <a:p>
            <a:pPr lvl="1" eaLnBrk="1" hangingPunct="1"/>
            <a:endParaRPr lang="nb-NO" sz="2400" smtClean="0">
              <a:solidFill>
                <a:schemeClr val="bg1"/>
              </a:solidFill>
              <a:latin typeface="Times New Roman" pitchFamily="18" charset="0"/>
            </a:endParaRPr>
          </a:p>
          <a:p>
            <a:pPr eaLnBrk="1" hangingPunct="1"/>
            <a:r>
              <a:rPr lang="nb-NO" sz="2400" smtClean="0">
                <a:solidFill>
                  <a:schemeClr val="bg1"/>
                </a:solidFill>
                <a:latin typeface="Times New Roman" pitchFamily="18" charset="0"/>
              </a:rPr>
              <a:t>All trening virker</a:t>
            </a:r>
          </a:p>
        </p:txBody>
      </p:sp>
      <p:pic>
        <p:nvPicPr>
          <p:cNvPr id="15364" name="Picture 5" descr="heart2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356100" y="2247900"/>
            <a:ext cx="4464050" cy="3348038"/>
          </a:xfrm>
          <a:noFill/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3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1143000"/>
          </a:xfrm>
        </p:spPr>
        <p:txBody>
          <a:bodyPr/>
          <a:lstStyle/>
          <a:p>
            <a:r>
              <a:rPr lang="nb-NO" sz="3600" smtClean="0">
                <a:solidFill>
                  <a:schemeClr val="tx1"/>
                </a:solidFill>
                <a:latin typeface="Times New Roman" pitchFamily="18" charset="0"/>
              </a:rPr>
              <a:t>Forskningsbasert kunnskap</a:t>
            </a:r>
            <a:endParaRPr lang="en-US" sz="36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116739" name="Group 3"/>
          <p:cNvGraphicFramePr>
            <a:graphicFrameLocks noGrp="1"/>
          </p:cNvGraphicFramePr>
          <p:nvPr>
            <p:ph idx="1"/>
          </p:nvPr>
        </p:nvGraphicFramePr>
        <p:xfrm>
          <a:off x="611188" y="1557338"/>
          <a:ext cx="7772400" cy="4900613"/>
        </p:xfrm>
        <a:graphic>
          <a:graphicData uri="http://schemas.openxmlformats.org/drawingml/2006/table">
            <a:tbl>
              <a:tblPr/>
              <a:tblGrid>
                <a:gridCol w="1149350"/>
                <a:gridCol w="6623050"/>
              </a:tblGrid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Level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 of study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Systematic review with homogeneity of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RCT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Individual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RCT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with narrow confidence intervals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or none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SR with homogeneity of cohort studies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Individual cohort study and low quality RCT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”Outcomes” research; ecological studies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3b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SR with homogeneity of case-control studies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Individual case-control study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Case series and poor quality cohort and case-control studies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Expert opinion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without explicit critical appraisal, or based on physiology, bench research or ”first principles”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08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dirty="0" smtClean="0">
                <a:latin typeface="Times New Roman" pitchFamily="18" charset="0"/>
              </a:rPr>
              <a:t>Newtons 2.lov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nb-NO" sz="4400" dirty="0" smtClean="0"/>
          </a:p>
          <a:p>
            <a:pPr algn="ctr" eaLnBrk="1" hangingPunct="1">
              <a:buFontTx/>
              <a:buNone/>
            </a:pPr>
            <a:r>
              <a:rPr lang="nb-NO" sz="2800" dirty="0" smtClean="0">
                <a:latin typeface="Times New Roman" pitchFamily="18" charset="0"/>
              </a:rPr>
              <a:t>F = m ・a</a:t>
            </a:r>
          </a:p>
          <a:p>
            <a:pPr eaLnBrk="1" hangingPunct="1">
              <a:buFontTx/>
              <a:buNone/>
            </a:pPr>
            <a:endParaRPr lang="nb-NO" sz="2800" dirty="0" smtClean="0">
              <a:latin typeface="Times New Roman" pitchFamily="18" charset="0"/>
            </a:endParaRPr>
          </a:p>
          <a:p>
            <a:pPr algn="ctr" eaLnBrk="1" hangingPunct="1">
              <a:buFontTx/>
              <a:buNone/>
            </a:pPr>
            <a:r>
              <a:rPr lang="nb-NO" sz="2800" dirty="0" smtClean="0">
                <a:latin typeface="Times New Roman" pitchFamily="18" charset="0"/>
              </a:rPr>
              <a:t>Kraft (Newton) = masse (kg) ・ akselerasjon (m </a:t>
            </a:r>
            <a:r>
              <a:rPr lang="nb-NO" sz="2800" dirty="0">
                <a:latin typeface="Times New Roman" pitchFamily="18" charset="0"/>
              </a:rPr>
              <a:t>・ </a:t>
            </a:r>
            <a:r>
              <a:rPr lang="nb-NO" sz="2800" dirty="0" smtClean="0">
                <a:latin typeface="Times New Roman" pitchFamily="18" charset="0"/>
              </a:rPr>
              <a:t>sek</a:t>
            </a:r>
            <a:r>
              <a:rPr lang="nb-NO" sz="2800" baseline="30000" dirty="0" smtClean="0">
                <a:latin typeface="Times New Roman" pitchFamily="18" charset="0"/>
              </a:rPr>
              <a:t>-2</a:t>
            </a:r>
            <a:r>
              <a:rPr lang="nb-NO" sz="2800" dirty="0" smtClean="0">
                <a:latin typeface="Times New Roman" pitchFamily="18" charset="0"/>
              </a:rPr>
              <a:t>)</a:t>
            </a:r>
          </a:p>
          <a:p>
            <a:pPr eaLnBrk="1" hangingPunct="1">
              <a:buFontTx/>
              <a:buNone/>
            </a:pPr>
            <a:endParaRPr lang="nb-NO" sz="2800" dirty="0" smtClean="0">
              <a:latin typeface="Times New Roman" pitchFamily="18" charset="0"/>
            </a:endParaRPr>
          </a:p>
        </p:txBody>
      </p:sp>
      <p:pic>
        <p:nvPicPr>
          <p:cNvPr id="3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2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dirty="0" smtClean="0">
                <a:latin typeface="Times New Roman" pitchFamily="18" charset="0"/>
                <a:cs typeface="Times New Roman" pitchFamily="18" charset="0"/>
              </a:rPr>
              <a:t>Mål på kraft: 1RM</a:t>
            </a:r>
          </a:p>
        </p:txBody>
      </p:sp>
      <p:sp>
        <p:nvSpPr>
          <p:cNvPr id="2048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nb-NO" smtClean="0">
                <a:latin typeface="Times New Roman" pitchFamily="18" charset="0"/>
                <a:cs typeface="Times New Roman" pitchFamily="18" charset="0"/>
              </a:rPr>
              <a:t>Den maksimale vekten som kan løftes en gang i en gitt øvelse</a:t>
            </a:r>
          </a:p>
          <a:p>
            <a:pPr eaLnBrk="1" hangingPunct="1"/>
            <a:endParaRPr lang="nb-NO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nb-NO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484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4067175" y="1773238"/>
          <a:ext cx="4814888" cy="360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2" name="Photo Editor Photo" r:id="rId6" imgW="3905795" imgH="2924583" progId="">
                  <p:embed/>
                </p:oleObj>
              </mc:Choice>
              <mc:Fallback>
                <p:oleObj name="Photo Editor Photo" r:id="rId6" imgW="3905795" imgH="2924583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1773238"/>
                        <a:ext cx="4814888" cy="360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dirty="0">
                <a:latin typeface="Times New Roman" pitchFamily="18" charset="0"/>
                <a:cs typeface="Times New Roman" pitchFamily="18" charset="0"/>
              </a:rPr>
              <a:t>Mål på kraft</a:t>
            </a:r>
            <a:r>
              <a:rPr lang="nb-NO" dirty="0" smtClean="0">
                <a:latin typeface="Times New Roman" pitchFamily="18" charset="0"/>
                <a:cs typeface="Times New Roman" pitchFamily="18" charset="0"/>
              </a:rPr>
              <a:t>: RFD</a:t>
            </a:r>
            <a:endParaRPr lang="nb-NO" dirty="0" smtClean="0">
              <a:solidFill>
                <a:schemeClr val="tx1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nb-NO" sz="2400" dirty="0" smtClean="0"/>
          </a:p>
          <a:p>
            <a:pPr eaLnBrk="1" hangingPunct="1"/>
            <a:r>
              <a:rPr lang="nb-NO" sz="2400" dirty="0" smtClean="0"/>
              <a:t>Kraftutviklingshastighet (RFD)</a:t>
            </a:r>
          </a:p>
          <a:p>
            <a:pPr eaLnBrk="1" hangingPunct="1"/>
            <a:r>
              <a:rPr lang="nb-NO" sz="2400" dirty="0" smtClean="0"/>
              <a:t>En av faktorene for 1RM</a:t>
            </a:r>
          </a:p>
          <a:p>
            <a:pPr eaLnBrk="1" hangingPunct="1"/>
            <a:endParaRPr lang="nb-NO" sz="2400" dirty="0" smtClean="0"/>
          </a:p>
          <a:p>
            <a:pPr eaLnBrk="1" hangingPunct="1"/>
            <a:r>
              <a:rPr lang="nb-NO" sz="2400" dirty="0" smtClean="0"/>
              <a:t>Første millisekunder av en muskelkontraksjon</a:t>
            </a:r>
          </a:p>
          <a:p>
            <a:pPr eaLnBrk="1" hangingPunct="1"/>
            <a:endParaRPr lang="nb-NO" sz="2400" dirty="0" smtClean="0"/>
          </a:p>
          <a:p>
            <a:pPr eaLnBrk="1" hangingPunct="1"/>
            <a:r>
              <a:rPr lang="nb-NO" sz="2400" dirty="0" smtClean="0"/>
              <a:t>Viktig for fysisk funksjon og prestasjon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235" y="1988841"/>
            <a:ext cx="4971267" cy="3392890"/>
          </a:xfrm>
        </p:spPr>
      </p:pic>
      <p:sp>
        <p:nvSpPr>
          <p:cNvPr id="4" name="TextBox 3"/>
          <p:cNvSpPr txBox="1"/>
          <p:nvPr/>
        </p:nvSpPr>
        <p:spPr>
          <a:xfrm>
            <a:off x="6516216" y="543923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 smtClean="0"/>
              <a:t>Ikke tid til å nå 1RM</a:t>
            </a:r>
            <a:endParaRPr lang="nb-NO" dirty="0"/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300192" y="1806279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1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dirty="0" smtClean="0">
                <a:latin typeface="Times New Roman" pitchFamily="18" charset="0"/>
              </a:rPr>
              <a:t>Intensitet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b-NO" sz="2800" dirty="0" smtClean="0">
              <a:latin typeface="Times New Roman" pitchFamily="18" charset="0"/>
            </a:endParaRPr>
          </a:p>
          <a:p>
            <a:pPr eaLnBrk="1" hangingPunct="1"/>
            <a:r>
              <a:rPr lang="nb-NO" sz="2800" dirty="0" smtClean="0">
                <a:latin typeface="Times New Roman" pitchFamily="18" charset="0"/>
              </a:rPr>
              <a:t>For å forbedre den maksimale styrken (kraften) må en vekt med mer enn 65-70% av 1RM benyttes!</a:t>
            </a:r>
          </a:p>
          <a:p>
            <a:pPr algn="r" eaLnBrk="1" hangingPunct="1">
              <a:buFontTx/>
              <a:buNone/>
            </a:pPr>
            <a:r>
              <a:rPr lang="nb-NO" sz="2000" dirty="0" smtClean="0">
                <a:latin typeface="Times New Roman" pitchFamily="18" charset="0"/>
              </a:rPr>
              <a:t>(</a:t>
            </a:r>
            <a:r>
              <a:rPr lang="nb-NO" sz="2000" dirty="0" err="1" smtClean="0">
                <a:latin typeface="Times New Roman" pitchFamily="18" charset="0"/>
              </a:rPr>
              <a:t>Schmidtbleicher</a:t>
            </a:r>
            <a:r>
              <a:rPr lang="nb-NO" sz="2000" dirty="0" smtClean="0">
                <a:latin typeface="Times New Roman" pitchFamily="18" charset="0"/>
              </a:rPr>
              <a:t> and </a:t>
            </a:r>
            <a:r>
              <a:rPr lang="nb-NO" sz="2000" dirty="0" err="1" smtClean="0">
                <a:latin typeface="Times New Roman" pitchFamily="18" charset="0"/>
              </a:rPr>
              <a:t>Burle</a:t>
            </a:r>
            <a:r>
              <a:rPr lang="nb-NO" sz="2000" dirty="0" smtClean="0">
                <a:latin typeface="Times New Roman" pitchFamily="18" charset="0"/>
              </a:rPr>
              <a:t> 1987; </a:t>
            </a:r>
            <a:r>
              <a:rPr lang="nb-NO" sz="2000" dirty="0" err="1" smtClean="0">
                <a:latin typeface="Times New Roman" pitchFamily="18" charset="0"/>
              </a:rPr>
              <a:t>Mc</a:t>
            </a:r>
            <a:r>
              <a:rPr lang="nb-NO" sz="2000" dirty="0" smtClean="0">
                <a:latin typeface="Times New Roman" pitchFamily="18" charset="0"/>
              </a:rPr>
              <a:t> </a:t>
            </a:r>
            <a:r>
              <a:rPr lang="nb-NO" sz="2000" dirty="0" err="1" smtClean="0">
                <a:latin typeface="Times New Roman" pitchFamily="18" charset="0"/>
              </a:rPr>
              <a:t>Donagh</a:t>
            </a:r>
            <a:r>
              <a:rPr lang="nb-NO" sz="2000" dirty="0" smtClean="0">
                <a:latin typeface="Times New Roman" pitchFamily="18" charset="0"/>
              </a:rPr>
              <a:t> and Davies 1984; </a:t>
            </a:r>
            <a:r>
              <a:rPr lang="nb-NO" sz="2000" dirty="0" err="1" smtClean="0">
                <a:latin typeface="Times New Roman" pitchFamily="18" charset="0"/>
              </a:rPr>
              <a:t>Schmidtbleicher</a:t>
            </a:r>
            <a:r>
              <a:rPr lang="nb-NO" sz="2000" dirty="0" smtClean="0">
                <a:latin typeface="Times New Roman" pitchFamily="18" charset="0"/>
              </a:rPr>
              <a:t> and </a:t>
            </a:r>
            <a:r>
              <a:rPr lang="nb-NO" sz="2000" dirty="0" err="1" smtClean="0">
                <a:latin typeface="Times New Roman" pitchFamily="18" charset="0"/>
              </a:rPr>
              <a:t>Haralambie</a:t>
            </a:r>
            <a:r>
              <a:rPr lang="nb-NO" sz="2000" dirty="0" smtClean="0">
                <a:latin typeface="Times New Roman" pitchFamily="18" charset="0"/>
              </a:rPr>
              <a:t> 1981)</a:t>
            </a:r>
          </a:p>
          <a:p>
            <a:pPr algn="r" eaLnBrk="1" hangingPunct="1">
              <a:buFontTx/>
              <a:buNone/>
            </a:pPr>
            <a:endParaRPr lang="nb-NO" sz="2000" dirty="0">
              <a:latin typeface="Times New Roman" pitchFamily="18" charset="0"/>
            </a:endParaRPr>
          </a:p>
          <a:p>
            <a:pPr eaLnBrk="1" hangingPunct="1"/>
            <a:r>
              <a:rPr lang="nb-NO" sz="2800" dirty="0" smtClean="0">
                <a:latin typeface="Times New Roman" pitchFamily="18" charset="0"/>
              </a:rPr>
              <a:t>Resulterer i &lt; 12-15 repetisjoner pr. serie</a:t>
            </a:r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4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smtClean="0">
                <a:latin typeface="Times New Roman" pitchFamily="18" charset="0"/>
              </a:rPr>
              <a:t>Muskelstyrke kan bedres ved: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nb-NO" sz="2400" smtClean="0">
              <a:latin typeface="Times New Roman" pitchFamily="18" charset="0"/>
            </a:endParaRPr>
          </a:p>
          <a:p>
            <a:pPr eaLnBrk="1" hangingPunct="1"/>
            <a:endParaRPr lang="nb-NO" sz="2800" smtClean="0">
              <a:latin typeface="Times New Roman" pitchFamily="18" charset="0"/>
            </a:endParaRPr>
          </a:p>
          <a:p>
            <a:pPr eaLnBrk="1" hangingPunct="1"/>
            <a:r>
              <a:rPr lang="nb-NO" sz="2800" smtClean="0">
                <a:latin typeface="Times New Roman" pitchFamily="18" charset="0"/>
              </a:rPr>
              <a:t>Økt tverrsnitt</a:t>
            </a:r>
          </a:p>
          <a:p>
            <a:pPr eaLnBrk="1" hangingPunct="1"/>
            <a:r>
              <a:rPr lang="nb-NO" sz="2800" smtClean="0">
                <a:latin typeface="Times New Roman" pitchFamily="18" charset="0"/>
              </a:rPr>
              <a:t>Neurale adaptasjoner</a:t>
            </a:r>
          </a:p>
        </p:txBody>
      </p:sp>
      <p:pic>
        <p:nvPicPr>
          <p:cNvPr id="23556" name="Picture 5" descr="arnold_schwarzenegger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910138" y="1844675"/>
            <a:ext cx="3517900" cy="4032250"/>
          </a:xfrm>
          <a:noFill/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88963"/>
            <a:ext cx="8229600" cy="67945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  <a:t>Maksimal styrketrening (MST) – </a:t>
            </a:r>
            <a:b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  <a:t>Fokus på neurale tilpasninger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3294063" cy="4525963"/>
          </a:xfrm>
          <a:noFill/>
        </p:spPr>
        <p:txBody>
          <a:bodyPr lIns="92075" tIns="46038" rIns="92075" bIns="46038"/>
          <a:lstStyle/>
          <a:p>
            <a:pPr eaLnBrk="1" hangingPunct="1">
              <a:buClr>
                <a:schemeClr val="tx1"/>
              </a:buClr>
            </a:pPr>
            <a:endParaRPr lang="nb-NO" sz="2400" dirty="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nb-NO" sz="2400" dirty="0" smtClean="0">
                <a:latin typeface="Times New Roman" pitchFamily="18" charset="0"/>
              </a:rPr>
              <a:t>3 - 5 repetisjoner</a:t>
            </a:r>
          </a:p>
          <a:p>
            <a:pPr eaLnBrk="1" hangingPunct="1">
              <a:buClr>
                <a:schemeClr val="tx1"/>
              </a:buClr>
            </a:pPr>
            <a:r>
              <a:rPr lang="nb-NO" sz="2400" dirty="0" smtClean="0">
                <a:latin typeface="Times New Roman" pitchFamily="18" charset="0"/>
              </a:rPr>
              <a:t>3 - 4 serier</a:t>
            </a:r>
          </a:p>
          <a:p>
            <a:pPr eaLnBrk="1" hangingPunct="1">
              <a:buClr>
                <a:schemeClr val="tx1"/>
              </a:buClr>
            </a:pPr>
            <a:r>
              <a:rPr lang="nb-NO" sz="2400" dirty="0">
                <a:latin typeface="Times New Roman" pitchFamily="18" charset="0"/>
              </a:rPr>
              <a:t>R</a:t>
            </a:r>
            <a:r>
              <a:rPr lang="nb-NO" sz="2400" dirty="0" smtClean="0">
                <a:latin typeface="Times New Roman" pitchFamily="18" charset="0"/>
              </a:rPr>
              <a:t>olig ned - stopp - maksimal mobilisering konsentrisk</a:t>
            </a:r>
          </a:p>
          <a:p>
            <a:pPr eaLnBrk="1" hangingPunct="1">
              <a:buClr>
                <a:schemeClr val="tx1"/>
              </a:buClr>
            </a:pPr>
            <a:r>
              <a:rPr lang="nb-NO" sz="2400" dirty="0" smtClean="0">
                <a:latin typeface="Times New Roman" pitchFamily="18" charset="0"/>
              </a:rPr>
              <a:t>så tungt at du ikke greier flere repetisjoner</a:t>
            </a:r>
          </a:p>
        </p:txBody>
      </p:sp>
      <p:pic>
        <p:nvPicPr>
          <p:cNvPr id="24580" name="Picture 4" descr="knebøy70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419600" y="2036763"/>
            <a:ext cx="4572000" cy="3430587"/>
          </a:xfrm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48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260350"/>
            <a:ext cx="7772400" cy="936625"/>
          </a:xfrm>
        </p:spPr>
        <p:txBody>
          <a:bodyPr/>
          <a:lstStyle/>
          <a:p>
            <a:pPr eaLnBrk="1" hangingPunct="1"/>
            <a:r>
              <a:rPr lang="nb-NO" sz="3600" smtClean="0">
                <a:solidFill>
                  <a:schemeClr val="bg1"/>
                </a:solidFill>
                <a:latin typeface="Times New Roman" pitchFamily="18" charset="0"/>
              </a:rPr>
              <a:t>MST – </a:t>
            </a:r>
            <a:br>
              <a:rPr lang="nb-NO" sz="3600" smtClean="0">
                <a:solidFill>
                  <a:schemeClr val="bg1"/>
                </a:solidFill>
                <a:latin typeface="Times New Roman" pitchFamily="18" charset="0"/>
              </a:rPr>
            </a:br>
            <a:r>
              <a:rPr lang="nb-NO" sz="3600" smtClean="0">
                <a:solidFill>
                  <a:schemeClr val="bg1"/>
                </a:solidFill>
                <a:latin typeface="Times New Roman" pitchFamily="18" charset="0"/>
              </a:rPr>
              <a:t>Trening av nervesystemet og hjernen!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3609975" cy="4525963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charset="0"/>
              <a:buChar char="•"/>
            </a:pPr>
            <a:endParaRPr lang="nb-NO" dirty="0" smtClean="0">
              <a:solidFill>
                <a:schemeClr val="bg1"/>
              </a:solidFill>
              <a:latin typeface="Times New Roman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charset="0"/>
              <a:buChar char="•"/>
            </a:pPr>
            <a:r>
              <a:rPr lang="nb-NO" dirty="0" err="1" smtClean="0">
                <a:solidFill>
                  <a:schemeClr val="bg1"/>
                </a:solidFill>
                <a:latin typeface="Times New Roman" pitchFamily="18" charset="0"/>
              </a:rPr>
              <a:t>SentralnervesystemetHjerne</a:t>
            </a:r>
            <a:r>
              <a:rPr lang="nb-NO" dirty="0" smtClean="0">
                <a:solidFill>
                  <a:schemeClr val="bg1"/>
                </a:solidFill>
                <a:latin typeface="Times New Roman" pitchFamily="18" charset="0"/>
              </a:rPr>
              <a:t> til skjelettmuskel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charset="0"/>
              <a:buChar char="•"/>
            </a:pPr>
            <a:endParaRPr lang="nb-NO" dirty="0" smtClean="0">
              <a:solidFill>
                <a:schemeClr val="bg1"/>
              </a:solidFill>
              <a:latin typeface="Times New Roman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charset="0"/>
              <a:buChar char="•"/>
            </a:pPr>
            <a:r>
              <a:rPr lang="nb-NO" dirty="0" smtClean="0">
                <a:solidFill>
                  <a:schemeClr val="bg1"/>
                </a:solidFill>
                <a:latin typeface="Times New Roman" pitchFamily="18" charset="0"/>
              </a:rPr>
              <a:t>Økt fyringsfrekvens og rekruttering av muskelenheter</a:t>
            </a:r>
          </a:p>
        </p:txBody>
      </p:sp>
      <p:pic>
        <p:nvPicPr>
          <p:cNvPr id="25604" name="Picture 8" descr="brai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40200" y="1844675"/>
            <a:ext cx="4406900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dirty="0" smtClean="0">
                <a:latin typeface="Times New Roman" pitchFamily="18" charset="0"/>
              </a:rPr>
              <a:t>Trening av hypertrofi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600200"/>
            <a:ext cx="3259138" cy="4525963"/>
          </a:xfrm>
        </p:spPr>
        <p:txBody>
          <a:bodyPr/>
          <a:lstStyle/>
          <a:p>
            <a:pPr eaLnBrk="1" hangingPunct="1"/>
            <a:endParaRPr lang="nb-NO" sz="2400" dirty="0" smtClean="0">
              <a:latin typeface="Times New Roman" pitchFamily="18" charset="0"/>
            </a:endParaRP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10-12 repetisjoner</a:t>
            </a:r>
          </a:p>
          <a:p>
            <a:pPr eaLnBrk="1" hangingPunct="1"/>
            <a:r>
              <a:rPr lang="nb-NO" sz="2400" dirty="0">
                <a:latin typeface="Times New Roman" pitchFamily="18" charset="0"/>
              </a:rPr>
              <a:t>5-6 serier</a:t>
            </a:r>
          </a:p>
          <a:p>
            <a:pPr eaLnBrk="1" hangingPunct="1"/>
            <a:r>
              <a:rPr lang="nb-NO" sz="2400" dirty="0">
                <a:latin typeface="Times New Roman" pitchFamily="18" charset="0"/>
              </a:rPr>
              <a:t>L</a:t>
            </a:r>
            <a:r>
              <a:rPr lang="nb-NO" sz="2400" dirty="0" smtClean="0">
                <a:latin typeface="Times New Roman" pitchFamily="18" charset="0"/>
              </a:rPr>
              <a:t>angsom utførelse til utmattelse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Hjelp på siste 1-2 repetisjoner for eksentrisk </a:t>
            </a:r>
            <a:r>
              <a:rPr lang="nb-NO" sz="2400" dirty="0" err="1" smtClean="0">
                <a:latin typeface="Times New Roman" pitchFamily="18" charset="0"/>
              </a:rPr>
              <a:t>overload</a:t>
            </a:r>
            <a:endParaRPr lang="nb-NO" sz="2400" dirty="0" smtClean="0">
              <a:latin typeface="Times New Roman" pitchFamily="18" charset="0"/>
            </a:endParaRPr>
          </a:p>
        </p:txBody>
      </p:sp>
      <p:pic>
        <p:nvPicPr>
          <p:cNvPr id="26628" name="Picture 4" descr="Vektløfterdame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3657600" y="1600200"/>
            <a:ext cx="5194300" cy="4159250"/>
          </a:xfrm>
          <a:noFill/>
        </p:spPr>
      </p:pic>
      <p:pic>
        <p:nvPicPr>
          <p:cNvPr id="3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2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  <a:t>Sammenlikning av MST og hypertrofitrening</a:t>
            </a:r>
            <a:b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nb-NO" sz="2000" dirty="0" smtClean="0">
                <a:solidFill>
                  <a:schemeClr val="tx1"/>
                </a:solidFill>
                <a:latin typeface="Times New Roman" pitchFamily="18" charset="0"/>
              </a:rPr>
              <a:t>Heggelund et al. 2013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77567" y="2003425"/>
            <a:ext cx="4026517" cy="406558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nb-NO" sz="2400" dirty="0">
                <a:latin typeface="Times New Roman" pitchFamily="18" charset="0"/>
              </a:rPr>
              <a:t>5 x 5 repetisjoner (</a:t>
            </a:r>
            <a:r>
              <a:rPr lang="nb-NO" sz="2400" dirty="0" smtClean="0">
                <a:latin typeface="Times New Roman" pitchFamily="18" charset="0"/>
              </a:rPr>
              <a:t>MST) </a:t>
            </a:r>
            <a:endParaRPr lang="nb-NO" sz="2400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nb-NO" sz="2400" dirty="0">
                <a:latin typeface="Times New Roman" pitchFamily="18" charset="0"/>
              </a:rPr>
              <a:t>			vs.</a:t>
            </a:r>
          </a:p>
          <a:p>
            <a:pPr marL="0" indent="0" eaLnBrk="1" hangingPunct="1">
              <a:buNone/>
            </a:pPr>
            <a:r>
              <a:rPr lang="nb-NO" sz="2400" dirty="0">
                <a:latin typeface="Times New Roman" pitchFamily="18" charset="0"/>
              </a:rPr>
              <a:t>3 x 10 repetisjoner </a:t>
            </a:r>
            <a:r>
              <a:rPr lang="nb-NO" sz="2400" dirty="0" smtClean="0">
                <a:latin typeface="Times New Roman" pitchFamily="18" charset="0"/>
              </a:rPr>
              <a:t>(hypertrofi)</a:t>
            </a:r>
          </a:p>
          <a:p>
            <a:pPr marL="0" indent="0" eaLnBrk="1" hangingPunct="1">
              <a:buNone/>
            </a:pPr>
            <a:endParaRPr lang="nb-NO" sz="2400" dirty="0">
              <a:latin typeface="Times New Roman" pitchFamily="18" charset="0"/>
            </a:endParaRP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Randomisering av høyre og venstre bein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Totalt arbeid likt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3 x uke, 8 uker</a:t>
            </a:r>
          </a:p>
        </p:txBody>
      </p:sp>
      <p:pic>
        <p:nvPicPr>
          <p:cNvPr id="28676" name="Picture 4" descr="Jørnkneekst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5003800" y="1773238"/>
            <a:ext cx="3268663" cy="4525962"/>
          </a:xfrm>
          <a:noFill/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8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6075"/>
            <a:ext cx="8686800" cy="922338"/>
          </a:xfrm>
        </p:spPr>
        <p:txBody>
          <a:bodyPr/>
          <a:lstStyle/>
          <a:p>
            <a:pPr eaLnBrk="1" hangingPunct="1"/>
            <a: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  <a:t>Sammenlikning av MST og hypertrofitrening</a:t>
            </a:r>
            <a:b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nb-NO" sz="2000" dirty="0" smtClean="0">
                <a:solidFill>
                  <a:schemeClr val="tx1"/>
                </a:solidFill>
                <a:latin typeface="Times New Roman" pitchFamily="18" charset="0"/>
              </a:rPr>
              <a:t>Heggelund et al. 2013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341438"/>
            <a:ext cx="4248274" cy="48133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sz="2400" dirty="0" smtClean="0">
                <a:latin typeface="Times New Roman" pitchFamily="18" charset="0"/>
              </a:rPr>
              <a:t>Forbedringer:</a:t>
            </a:r>
          </a:p>
          <a:p>
            <a:pPr eaLnBrk="1" hangingPunct="1"/>
            <a:r>
              <a:rPr lang="nb-NO" sz="2400" b="1" dirty="0" smtClean="0">
                <a:latin typeface="Times New Roman" pitchFamily="18" charset="0"/>
              </a:rPr>
              <a:t>1RM </a:t>
            </a:r>
          </a:p>
          <a:p>
            <a:pPr marL="0" indent="0" eaLnBrk="1" hangingPunct="1">
              <a:buNone/>
            </a:pPr>
            <a:r>
              <a:rPr lang="nb-NO" sz="2400" dirty="0" smtClean="0">
                <a:latin typeface="Times New Roman" pitchFamily="18" charset="0"/>
              </a:rPr>
              <a:t>	MST</a:t>
            </a:r>
            <a:r>
              <a:rPr lang="nb-NO" sz="2400" dirty="0">
                <a:latin typeface="Times New Roman" pitchFamily="18" charset="0"/>
              </a:rPr>
              <a:t>:		 </a:t>
            </a:r>
            <a:r>
              <a:rPr lang="nb-NO" sz="2400" dirty="0" smtClean="0">
                <a:latin typeface="Times New Roman" pitchFamily="18" charset="0"/>
              </a:rPr>
              <a:t>50 %</a:t>
            </a:r>
            <a:endParaRPr lang="nb-NO" sz="2400" dirty="0">
              <a:latin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nb-NO" sz="2400" dirty="0" smtClean="0">
                <a:latin typeface="Times New Roman" pitchFamily="18" charset="0"/>
              </a:rPr>
              <a:t>	Hypertrofi:       35 %</a:t>
            </a:r>
            <a:endParaRPr lang="nb-NO" sz="2000" dirty="0" smtClean="0">
              <a:latin typeface="Times New Roman" pitchFamily="18" charset="0"/>
            </a:endParaRPr>
          </a:p>
          <a:p>
            <a:pPr eaLnBrk="1" hangingPunct="1"/>
            <a:r>
              <a:rPr lang="nb-NO" sz="2400" b="1" dirty="0" smtClean="0">
                <a:latin typeface="Times New Roman" pitchFamily="18" charset="0"/>
              </a:rPr>
              <a:t>RFD </a:t>
            </a:r>
          </a:p>
          <a:p>
            <a:pPr marL="0" indent="0" eaLnBrk="1" hangingPunct="1">
              <a:buNone/>
            </a:pPr>
            <a:r>
              <a:rPr lang="nb-NO" sz="2400" dirty="0" smtClean="0">
                <a:latin typeface="Times New Roman" pitchFamily="18" charset="0"/>
              </a:rPr>
              <a:t>	MST</a:t>
            </a:r>
            <a:r>
              <a:rPr lang="nb-NO" sz="2400" dirty="0">
                <a:latin typeface="Times New Roman" pitchFamily="18" charset="0"/>
              </a:rPr>
              <a:t>: 	</a:t>
            </a:r>
            <a:r>
              <a:rPr lang="nb-NO" sz="2400" dirty="0" smtClean="0">
                <a:latin typeface="Times New Roman" pitchFamily="18" charset="0"/>
              </a:rPr>
              <a:t>           155 %</a:t>
            </a:r>
            <a:endParaRPr lang="nb-NO" sz="2400" dirty="0">
              <a:latin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nb-NO" sz="2400" dirty="0" smtClean="0">
                <a:latin typeface="Times New Roman" pitchFamily="18" charset="0"/>
              </a:rPr>
              <a:t> 	Hypertrofi:	</a:t>
            </a:r>
            <a:r>
              <a:rPr lang="nb-NO" sz="2400" dirty="0">
                <a:latin typeface="Times New Roman" pitchFamily="18" charset="0"/>
              </a:rPr>
              <a:t> </a:t>
            </a:r>
            <a:r>
              <a:rPr lang="nb-NO" sz="2400" dirty="0" smtClean="0">
                <a:latin typeface="Times New Roman" pitchFamily="18" charset="0"/>
              </a:rPr>
              <a:t>83 %</a:t>
            </a:r>
          </a:p>
          <a:p>
            <a:pPr eaLnBrk="1" hangingPunct="1"/>
            <a:endParaRPr lang="nb-NO" sz="2400" b="1" dirty="0" smtClean="0">
              <a:latin typeface="Times New Roman" pitchFamily="18" charset="0"/>
            </a:endParaRPr>
          </a:p>
          <a:p>
            <a:pPr eaLnBrk="1" hangingPunct="1"/>
            <a:r>
              <a:rPr lang="nb-NO" sz="2400" b="1" dirty="0" smtClean="0">
                <a:latin typeface="Times New Roman" pitchFamily="18" charset="0"/>
              </a:rPr>
              <a:t>Muskeltverrsnitt</a:t>
            </a:r>
          </a:p>
          <a:p>
            <a:pPr lvl="1" eaLnBrk="1" hangingPunct="1"/>
            <a:r>
              <a:rPr lang="nb-NO" sz="2400" dirty="0">
                <a:latin typeface="Times New Roman" pitchFamily="18" charset="0"/>
              </a:rPr>
              <a:t>MST: 		</a:t>
            </a:r>
            <a:r>
              <a:rPr lang="nb-NO" sz="2400" dirty="0" smtClean="0">
                <a:latin typeface="Times New Roman" pitchFamily="18" charset="0"/>
              </a:rPr>
              <a:t>0.1 %</a:t>
            </a:r>
            <a:endParaRPr lang="nb-NO" sz="2400" dirty="0">
              <a:latin typeface="Times New Roman" pitchFamily="18" charset="0"/>
            </a:endParaRP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Hypertrofi:	2.1 %</a:t>
            </a:r>
          </a:p>
          <a:p>
            <a:pPr lvl="1" eaLnBrk="1" hangingPunct="1">
              <a:buFontTx/>
              <a:buNone/>
            </a:pPr>
            <a:endParaRPr lang="nb-NO" sz="2000" dirty="0" smtClean="0">
              <a:latin typeface="Times New Roman" pitchFamily="18" charset="0"/>
            </a:endParaRP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7235825" y="5516563"/>
            <a:ext cx="1439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nb-NO" sz="1600">
              <a:latin typeface="Times" pitchFamily="18" charset="0"/>
              <a:cs typeface="Arial" charset="0"/>
            </a:endParaRPr>
          </a:p>
        </p:txBody>
      </p:sp>
      <p:pic>
        <p:nvPicPr>
          <p:cNvPr id="29702" name="Picture 4" descr="Jørnkneekst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3800" y="1773238"/>
            <a:ext cx="3268663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9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dirty="0" smtClean="0">
                <a:latin typeface="Times New Roman" pitchFamily="18" charset="0"/>
                <a:cs typeface="Times New Roman" pitchFamily="18" charset="0"/>
              </a:rPr>
              <a:t>MST eller hypertrofitrening?</a:t>
            </a:r>
          </a:p>
        </p:txBody>
      </p:sp>
      <p:sp>
        <p:nvSpPr>
          <p:cNvPr id="3072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nb-NO" dirty="0" smtClean="0">
                <a:latin typeface="Times New Roman" pitchFamily="18" charset="0"/>
              </a:rPr>
              <a:t>Avhengig av mål, men oftest behov for MST</a:t>
            </a:r>
            <a:endParaRPr lang="nb-NO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 typeface="Courier New" charset="0"/>
              <a:buChar char="o"/>
            </a:pPr>
            <a:r>
              <a:rPr lang="nb-NO" dirty="0" smtClean="0">
                <a:latin typeface="Times New Roman" pitchFamily="18" charset="0"/>
                <a:cs typeface="Times New Roman" pitchFamily="18" charset="0"/>
              </a:rPr>
              <a:t>Sterk i forhold til kroppsvekt?</a:t>
            </a:r>
          </a:p>
          <a:p>
            <a:pPr lvl="1" eaLnBrk="1" hangingPunct="1">
              <a:buFont typeface="Courier New" charset="0"/>
              <a:buChar char="o"/>
            </a:pPr>
            <a:r>
              <a:rPr lang="nb-NO" dirty="0" smtClean="0">
                <a:latin typeface="Times New Roman" pitchFamily="18" charset="0"/>
                <a:cs typeface="Times New Roman" pitchFamily="18" charset="0"/>
              </a:rPr>
              <a:t>Sterk til å løfte et ytre objekt?</a:t>
            </a:r>
            <a:endParaRPr lang="nb-NO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 typeface="Courier New" charset="0"/>
              <a:buChar char="o"/>
            </a:pPr>
            <a:r>
              <a:rPr lang="nb-NO" dirty="0" smtClean="0">
                <a:latin typeface="Times New Roman" pitchFamily="18" charset="0"/>
                <a:cs typeface="Times New Roman" pitchFamily="18" charset="0"/>
              </a:rPr>
              <a:t>Hvordan se ut?</a:t>
            </a:r>
            <a:endParaRPr lang="nb-NO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4" name="Content Placeholder 4" descr="Musclefiber.bmp"/>
          <p:cNvPicPr>
            <a:picLocks noGrp="1" noChangeAspect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824413" y="1450975"/>
            <a:ext cx="4284662" cy="5362575"/>
          </a:xfrm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dirty="0" smtClean="0">
                <a:solidFill>
                  <a:schemeClr val="tx1"/>
                </a:solidFill>
              </a:rPr>
              <a:t>Risiko ved MST?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nb-NO" sz="2400" dirty="0" smtClean="0"/>
          </a:p>
          <a:p>
            <a:pPr eaLnBrk="1" hangingPunct="1"/>
            <a:r>
              <a:rPr lang="nb-NO" sz="2400" dirty="0" smtClean="0"/>
              <a:t>Lav kraft i konsentrisk sammenliknet med eksentrisk fase</a:t>
            </a:r>
          </a:p>
          <a:p>
            <a:pPr eaLnBrk="1" hangingPunct="1"/>
            <a:endParaRPr lang="nb-NO" sz="2400" dirty="0" smtClean="0"/>
          </a:p>
          <a:p>
            <a:pPr eaLnBrk="1" hangingPunct="1"/>
            <a:r>
              <a:rPr lang="nb-NO" sz="2400" dirty="0" smtClean="0"/>
              <a:t>Lav risiko</a:t>
            </a:r>
          </a:p>
        </p:txBody>
      </p:sp>
      <p:pic>
        <p:nvPicPr>
          <p:cNvPr id="21508" name="Content Placeholder 10" descr="Bilde1.jpg"/>
          <p:cNvPicPr>
            <a:picLocks noGrp="1" noChangeAspect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552950" y="1303338"/>
            <a:ext cx="4267200" cy="5438775"/>
          </a:xfrm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4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2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dirty="0" smtClean="0">
                <a:latin typeface="Times New Roman" pitchFamily="18" charset="0"/>
              </a:rPr>
              <a:t>Anvendelse: Fotball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nb-NO" sz="2400" smtClean="0">
              <a:latin typeface="Times New Roman" pitchFamily="18" charset="0"/>
            </a:endParaRPr>
          </a:p>
          <a:p>
            <a:pPr eaLnBrk="1" hangingPunct="1"/>
            <a:r>
              <a:rPr lang="nb-NO" sz="2400" smtClean="0">
                <a:latin typeface="Times New Roman" pitchFamily="18" charset="0"/>
              </a:rPr>
              <a:t>21 fotballspillere i eliteserien</a:t>
            </a:r>
          </a:p>
          <a:p>
            <a:pPr eaLnBrk="1" hangingPunct="1"/>
            <a:r>
              <a:rPr lang="nb-NO" sz="2400" smtClean="0">
                <a:latin typeface="Times New Roman" pitchFamily="18" charset="0"/>
              </a:rPr>
              <a:t>Både styrke og utholdenhetstrening</a:t>
            </a:r>
          </a:p>
          <a:p>
            <a:pPr eaLnBrk="1" hangingPunct="1"/>
            <a:r>
              <a:rPr lang="nb-NO" sz="2400" smtClean="0">
                <a:latin typeface="Times New Roman" pitchFamily="18" charset="0"/>
              </a:rPr>
              <a:t>2x pr. uke</a:t>
            </a:r>
          </a:p>
          <a:p>
            <a:pPr eaLnBrk="1" hangingPunct="1"/>
            <a:r>
              <a:rPr lang="nb-NO" sz="2400" smtClean="0">
                <a:latin typeface="Times New Roman" pitchFamily="18" charset="0"/>
              </a:rPr>
              <a:t>8 uker</a:t>
            </a:r>
          </a:p>
        </p:txBody>
      </p:sp>
      <p:pic>
        <p:nvPicPr>
          <p:cNvPr id="32772" name="Picture 5" descr="molde fotball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067175" y="1862138"/>
            <a:ext cx="4751388" cy="3367087"/>
          </a:xfrm>
          <a:noFill/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8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smtClean="0">
                <a:solidFill>
                  <a:schemeClr val="tx1"/>
                </a:solidFill>
                <a:latin typeface="Times New Roman" pitchFamily="18" charset="0"/>
              </a:rPr>
              <a:t>Resultater Molde fotballklubb </a:t>
            </a:r>
            <a:br>
              <a:rPr lang="nb-NO" sz="3600" smtClean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nb-NO" sz="3600" smtClean="0">
                <a:solidFill>
                  <a:schemeClr val="tx1"/>
                </a:solidFill>
                <a:latin typeface="Times New Roman" pitchFamily="18" charset="0"/>
              </a:rPr>
              <a:t>forsesongen 2002</a:t>
            </a:r>
          </a:p>
        </p:txBody>
      </p:sp>
      <p:graphicFrame>
        <p:nvGraphicFramePr>
          <p:cNvPr id="33795" name="Object 3"/>
          <p:cNvGraphicFramePr>
            <a:graphicFrameLocks noGrp="1" noChangeAspect="1"/>
          </p:cNvGraphicFramePr>
          <p:nvPr>
            <p:ph type="tbl" idx="1"/>
          </p:nvPr>
        </p:nvGraphicFramePr>
        <p:xfrm>
          <a:off x="585788" y="1720850"/>
          <a:ext cx="8558212" cy="436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2" name="Document" r:id="rId6" imgW="6234684" imgH="3098292" progId="Word.Document.8">
                  <p:embed/>
                </p:oleObj>
              </mc:Choice>
              <mc:Fallback>
                <p:oleObj name="Document" r:id="rId6" imgW="6234684" imgH="3098292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1720850"/>
                        <a:ext cx="8558212" cy="4362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/>
          <p:cNvSpPr/>
          <p:nvPr/>
        </p:nvSpPr>
        <p:spPr>
          <a:xfrm>
            <a:off x="4932040" y="2780928"/>
            <a:ext cx="1224136" cy="1512168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403648" y="4941169"/>
            <a:ext cx="936104" cy="100811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157612" y="5013176"/>
            <a:ext cx="2854548" cy="10701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0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755650" y="6248400"/>
            <a:ext cx="21431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3498850" y="6248400"/>
            <a:ext cx="32575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247650" y="1676400"/>
            <a:ext cx="874395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ctr"/>
            <a:r>
              <a:rPr lang="en-GB" sz="2800" b="1"/>
              <a:t/>
            </a:r>
            <a:br>
              <a:rPr lang="en-GB" sz="2800" b="1"/>
            </a:br>
            <a:endParaRPr lang="nb-NO" sz="3600">
              <a:solidFill>
                <a:srgbClr val="FF0000"/>
              </a:solidFill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104900" y="3886200"/>
            <a:ext cx="7200900" cy="1752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>
              <a:spcBef>
                <a:spcPct val="20000"/>
              </a:spcBef>
            </a:pPr>
            <a:endParaRPr lang="nb-NO" sz="2600">
              <a:solidFill>
                <a:srgbClr val="FFFF00"/>
              </a:solidFill>
            </a:endParaRP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dirty="0" err="1" smtClean="0">
                <a:solidFill>
                  <a:schemeClr val="tx1"/>
                </a:solidFill>
                <a:latin typeface="Times New Roman" pitchFamily="18" charset="0"/>
              </a:rPr>
              <a:t>Avendelse</a:t>
            </a:r>
            <a: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  <a:t>: Trente utøvere</a:t>
            </a:r>
            <a:r>
              <a:rPr lang="en-US" b="1" dirty="0" smtClean="0">
                <a:solidFill>
                  <a:srgbClr val="FF3300"/>
                </a:solidFill>
              </a:rPr>
              <a:t> </a:t>
            </a:r>
            <a:endParaRPr lang="en-US" dirty="0" smtClean="0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3683000" cy="4525963"/>
          </a:xfrm>
        </p:spPr>
        <p:txBody>
          <a:bodyPr/>
          <a:lstStyle/>
          <a:p>
            <a:pPr eaLnBrk="1" hangingPunct="1"/>
            <a:endParaRPr lang="nb-NO" sz="2400" dirty="0" smtClean="0">
              <a:latin typeface="Times New Roman" pitchFamily="18" charset="0"/>
            </a:endParaRP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6 verdenscuphoppere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21.3 år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181 cm 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66.1 kg 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VO</a:t>
            </a:r>
            <a:r>
              <a:rPr lang="nb-NO" sz="2400" baseline="-25000" dirty="0" smtClean="0">
                <a:latin typeface="Times New Roman" pitchFamily="18" charset="0"/>
              </a:rPr>
              <a:t>2max</a:t>
            </a:r>
            <a:r>
              <a:rPr lang="nb-NO" sz="2400" dirty="0" smtClean="0">
                <a:latin typeface="Times New Roman" pitchFamily="18" charset="0"/>
              </a:rPr>
              <a:t>: </a:t>
            </a: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59.3 ml</a:t>
            </a:r>
            <a:r>
              <a:rPr lang="nb-NO" sz="2400" baseline="30000" dirty="0" smtClean="0">
                <a:latin typeface="Times New Roman" pitchFamily="18" charset="0"/>
              </a:rPr>
              <a:t>.</a:t>
            </a:r>
            <a:r>
              <a:rPr lang="nb-NO" sz="2400" dirty="0" smtClean="0">
                <a:latin typeface="Times New Roman" pitchFamily="18" charset="0"/>
              </a:rPr>
              <a:t>kg</a:t>
            </a:r>
            <a:r>
              <a:rPr lang="nb-NO" sz="2400" baseline="30000" dirty="0" smtClean="0">
                <a:latin typeface="Times New Roman" pitchFamily="18" charset="0"/>
              </a:rPr>
              <a:t>-1. </a:t>
            </a:r>
            <a:r>
              <a:rPr lang="nb-NO" sz="2400" dirty="0" smtClean="0">
                <a:latin typeface="Times New Roman" pitchFamily="18" charset="0"/>
              </a:rPr>
              <a:t>min</a:t>
            </a:r>
            <a:r>
              <a:rPr lang="nb-NO" sz="2400" baseline="30000" dirty="0" smtClean="0">
                <a:latin typeface="Times New Roman" pitchFamily="18" charset="0"/>
              </a:rPr>
              <a:t>-1 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1RM dype knebøy:</a:t>
            </a: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111 kg</a:t>
            </a:r>
            <a:endParaRPr lang="nb-NO" sz="2400" dirty="0" smtClean="0">
              <a:solidFill>
                <a:srgbClr val="FFFF00"/>
              </a:solidFill>
              <a:latin typeface="Times New Roman" pitchFamily="18" charset="0"/>
            </a:endParaRPr>
          </a:p>
          <a:p>
            <a:pPr eaLnBrk="1" hangingPunct="1"/>
            <a:endParaRPr lang="nb-NO" sz="2400" dirty="0" smtClean="0">
              <a:solidFill>
                <a:srgbClr val="FFFF00"/>
              </a:solidFill>
              <a:latin typeface="Times New Roman" pitchFamily="18" charset="0"/>
            </a:endParaRPr>
          </a:p>
        </p:txBody>
      </p:sp>
      <p:pic>
        <p:nvPicPr>
          <p:cNvPr id="34824" name="Picture 8" descr="skihoppere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191000" y="1952625"/>
            <a:ext cx="4724400" cy="3438525"/>
          </a:xfrm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755650" y="6248400"/>
            <a:ext cx="21431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498850" y="6248400"/>
            <a:ext cx="32575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381000" y="1676400"/>
            <a:ext cx="8763000" cy="434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ctr"/>
            <a:r>
              <a:rPr lang="en-GB" sz="2800" b="1"/>
              <a:t/>
            </a:r>
            <a:br>
              <a:rPr lang="en-GB" sz="2800" b="1"/>
            </a:br>
            <a:endParaRPr lang="nb-NO" sz="3600">
              <a:solidFill>
                <a:srgbClr val="FF0000"/>
              </a:solidFill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1104900" y="3886200"/>
            <a:ext cx="7200900" cy="1752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>
              <a:spcBef>
                <a:spcPct val="20000"/>
              </a:spcBef>
            </a:pPr>
            <a:endParaRPr lang="nb-NO" sz="2600">
              <a:solidFill>
                <a:srgbClr val="FFFF00"/>
              </a:solidFill>
            </a:endParaRP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dirty="0" smtClean="0">
                <a:solidFill>
                  <a:schemeClr val="tx1"/>
                </a:solidFill>
                <a:latin typeface="Times New Roman" pitchFamily="18" charset="0"/>
              </a:rPr>
              <a:t>Resultater</a:t>
            </a:r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981200"/>
            <a:ext cx="38100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rgbClr val="FFFF00"/>
                </a:solidFill>
              </a:rPr>
              <a:t>		</a:t>
            </a:r>
            <a:endParaRPr lang="en-US" sz="2000" dirty="0" smtClean="0">
              <a:solidFill>
                <a:srgbClr val="FFFF00"/>
              </a:solidFill>
            </a:endParaRPr>
          </a:p>
        </p:txBody>
      </p:sp>
      <p:graphicFrame>
        <p:nvGraphicFramePr>
          <p:cNvPr id="35848" name="Object 8"/>
          <p:cNvGraphicFramePr>
            <a:graphicFrameLocks noGrp="1" noChangeAspect="1"/>
          </p:cNvGraphicFramePr>
          <p:nvPr>
            <p:ph type="tbl" idx="1"/>
          </p:nvPr>
        </p:nvGraphicFramePr>
        <p:xfrm>
          <a:off x="614363" y="1979613"/>
          <a:ext cx="7669212" cy="431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6" name="Document" r:id="rId6" imgW="7773924" imgH="4381500" progId="Word.Document.8">
                  <p:embed/>
                </p:oleObj>
              </mc:Choice>
              <mc:Fallback>
                <p:oleObj name="Document" r:id="rId6" imgW="7773924" imgH="43815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1979613"/>
                        <a:ext cx="7669212" cy="431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4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/>
          <a:lstStyle/>
          <a:p>
            <a:pPr eaLnBrk="1" hangingPunct="1"/>
            <a:r>
              <a:rPr lang="nb-NO" sz="3200" smtClean="0">
                <a:latin typeface="Times New Roman" pitchFamily="18" charset="0"/>
              </a:rPr>
              <a:t>Eksempler på forbedringer </a:t>
            </a:r>
            <a:r>
              <a:rPr lang="nb-NO" sz="3200" dirty="0" smtClean="0">
                <a:latin typeface="Times New Roman" pitchFamily="18" charset="0"/>
              </a:rPr>
              <a:t>av 1 RM som følge av </a:t>
            </a:r>
            <a:br>
              <a:rPr lang="nb-NO" sz="3200" dirty="0" smtClean="0">
                <a:latin typeface="Times New Roman" pitchFamily="18" charset="0"/>
              </a:rPr>
            </a:br>
            <a:r>
              <a:rPr lang="nb-NO" sz="3200" dirty="0" smtClean="0">
                <a:latin typeface="Times New Roman" pitchFamily="18" charset="0"/>
              </a:rPr>
              <a:t>MST i ulike populasjoner - relative verdier</a:t>
            </a:r>
          </a:p>
        </p:txBody>
      </p:sp>
      <p:graphicFrame>
        <p:nvGraphicFramePr>
          <p:cNvPr id="41987" name="Object 6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1497013" y="1506538"/>
          <a:ext cx="6797675" cy="449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5" r:id="rId6" imgW="6797629" imgH="4493141" progId="Excel.Sheet.8">
                  <p:embed/>
                </p:oleObj>
              </mc:Choice>
              <mc:Fallback>
                <p:oleObj r:id="rId6" imgW="6797629" imgH="4493141" progId="Excel.Sheet.8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1506538"/>
                        <a:ext cx="6797675" cy="449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7"/>
          <p:cNvSpPr txBox="1">
            <a:spLocks noChangeArrowheads="1"/>
          </p:cNvSpPr>
          <p:nvPr/>
        </p:nvSpPr>
        <p:spPr bwMode="auto">
          <a:xfrm rot="-5400000">
            <a:off x="533400" y="3562351"/>
            <a:ext cx="9540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1 RM</a:t>
            </a:r>
            <a:r>
              <a:rPr lang="en-US" sz="2400" baseline="-25000">
                <a:latin typeface="Times New Roman" pitchFamily="18" charset="0"/>
              </a:rPr>
              <a:t> </a:t>
            </a:r>
          </a:p>
          <a:p>
            <a:r>
              <a:rPr lang="en-US" sz="2400">
                <a:latin typeface="Times New Roman" pitchFamily="18" charset="0"/>
              </a:rPr>
              <a:t>   </a:t>
            </a:r>
            <a:r>
              <a:rPr lang="en-US" sz="2000">
                <a:latin typeface="Times New Roman" pitchFamily="18" charset="0"/>
              </a:rPr>
              <a:t>(%)</a:t>
            </a:r>
            <a:r>
              <a:rPr lang="en-US" sz="2400">
                <a:latin typeface="Times New Roman" pitchFamily="18" charset="0"/>
              </a:rPr>
              <a:t> </a:t>
            </a:r>
          </a:p>
        </p:txBody>
      </p:sp>
      <p:sp>
        <p:nvSpPr>
          <p:cNvPr id="41989" name="TextBox 2"/>
          <p:cNvSpPr txBox="1">
            <a:spLocks noChangeArrowheads="1"/>
          </p:cNvSpPr>
          <p:nvPr/>
        </p:nvSpPr>
        <p:spPr bwMode="auto">
          <a:xfrm rot="20050227">
            <a:off x="1047218" y="5810577"/>
            <a:ext cx="15806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nb-NO" sz="1400" dirty="0"/>
              <a:t>Wang et al. </a:t>
            </a:r>
            <a:r>
              <a:rPr lang="nb-NO" sz="1400" dirty="0" smtClean="0"/>
              <a:t>2014 </a:t>
            </a:r>
            <a:endParaRPr lang="nb-NO" sz="1400" dirty="0"/>
          </a:p>
          <a:p>
            <a:pPr algn="ctr"/>
            <a:r>
              <a:rPr lang="nb-NO" sz="1400" dirty="0"/>
              <a:t>(</a:t>
            </a:r>
            <a:r>
              <a:rPr lang="nb-NO" sz="1400" dirty="0" err="1"/>
              <a:t>Healthy</a:t>
            </a:r>
            <a:r>
              <a:rPr lang="nb-NO" sz="1400" dirty="0"/>
              <a:t>, Young)</a:t>
            </a:r>
            <a:endParaRPr lang="en-US" sz="1400" dirty="0"/>
          </a:p>
        </p:txBody>
      </p:sp>
      <p:sp>
        <p:nvSpPr>
          <p:cNvPr id="41990" name="TextBox 4"/>
          <p:cNvSpPr txBox="1">
            <a:spLocks noChangeArrowheads="1"/>
          </p:cNvSpPr>
          <p:nvPr/>
        </p:nvSpPr>
        <p:spPr bwMode="auto">
          <a:xfrm rot="19912657">
            <a:off x="2362463" y="5859790"/>
            <a:ext cx="15806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Wang et al. </a:t>
            </a:r>
            <a:r>
              <a:rPr lang="en-US" sz="1400" dirty="0" smtClean="0"/>
              <a:t>2014 </a:t>
            </a:r>
            <a:endParaRPr lang="en-US" sz="1400" dirty="0"/>
          </a:p>
          <a:p>
            <a:pPr algn="ctr"/>
            <a:r>
              <a:rPr lang="en-US" sz="1400" dirty="0"/>
              <a:t>(healthy, old)</a:t>
            </a:r>
          </a:p>
        </p:txBody>
      </p:sp>
      <p:sp>
        <p:nvSpPr>
          <p:cNvPr id="41991" name="TextBox 5"/>
          <p:cNvSpPr txBox="1">
            <a:spLocks noChangeArrowheads="1"/>
          </p:cNvSpPr>
          <p:nvPr/>
        </p:nvSpPr>
        <p:spPr bwMode="auto">
          <a:xfrm rot="-1885147">
            <a:off x="3767138" y="5797550"/>
            <a:ext cx="1498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fr-FR" sz="1400"/>
              <a:t>Hoff et al. 2007 </a:t>
            </a:r>
          </a:p>
          <a:p>
            <a:pPr algn="ctr"/>
            <a:r>
              <a:rPr lang="fr-FR" sz="1400"/>
              <a:t>(COPD patients)</a:t>
            </a:r>
            <a:endParaRPr lang="en-US" sz="1400"/>
          </a:p>
        </p:txBody>
      </p:sp>
      <p:sp>
        <p:nvSpPr>
          <p:cNvPr id="41992" name="TextBox 6"/>
          <p:cNvSpPr txBox="1">
            <a:spLocks noChangeArrowheads="1"/>
          </p:cNvSpPr>
          <p:nvPr/>
        </p:nvSpPr>
        <p:spPr bwMode="auto">
          <a:xfrm rot="-1948070">
            <a:off x="4894263" y="5827713"/>
            <a:ext cx="1606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Størenet al. 2008 </a:t>
            </a:r>
          </a:p>
          <a:p>
            <a:pPr algn="ctr"/>
            <a:r>
              <a:rPr lang="en-US" sz="1400"/>
              <a:t>(runners)</a:t>
            </a:r>
          </a:p>
        </p:txBody>
      </p:sp>
      <p:sp>
        <p:nvSpPr>
          <p:cNvPr id="41993" name="TextBox 7"/>
          <p:cNvSpPr txBox="1">
            <a:spLocks noChangeArrowheads="1"/>
          </p:cNvSpPr>
          <p:nvPr/>
        </p:nvSpPr>
        <p:spPr bwMode="auto">
          <a:xfrm rot="-1991090">
            <a:off x="6145213" y="5835650"/>
            <a:ext cx="15811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a-DK" sz="1400"/>
              <a:t>Wang et al. 2010 </a:t>
            </a:r>
          </a:p>
          <a:p>
            <a:pPr algn="ctr"/>
            <a:r>
              <a:rPr lang="da-DK" sz="1400"/>
              <a:t>(PAD patients)</a:t>
            </a:r>
            <a:endParaRPr lang="en-US" sz="1400"/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7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15888"/>
            <a:ext cx="7391400" cy="1143000"/>
          </a:xfrm>
        </p:spPr>
        <p:txBody>
          <a:bodyPr/>
          <a:lstStyle/>
          <a:p>
            <a:pPr eaLnBrk="1" hangingPunct="1"/>
            <a:r>
              <a:rPr lang="nb-NO" sz="3600" smtClean="0">
                <a:solidFill>
                  <a:schemeClr val="tx1"/>
                </a:solidFill>
                <a:latin typeface="Times New Roman" pitchFamily="18" charset="0"/>
              </a:rPr>
              <a:t>MST for pasienter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1438"/>
            <a:ext cx="4140200" cy="4114800"/>
          </a:xfrm>
        </p:spPr>
        <p:txBody>
          <a:bodyPr/>
          <a:lstStyle/>
          <a:p>
            <a:pPr eaLnBrk="1" hangingPunct="1"/>
            <a:r>
              <a:rPr lang="nb-NO" sz="2400" dirty="0" smtClean="0">
                <a:latin typeface="Times New Roman" pitchFamily="18" charset="0"/>
              </a:rPr>
              <a:t>Bedre 1RM og RFD</a:t>
            </a:r>
          </a:p>
          <a:p>
            <a:pPr marL="0" indent="0" eaLnBrk="1" hangingPunct="1">
              <a:buNone/>
            </a:pPr>
            <a:r>
              <a:rPr lang="nb-NO" sz="3600" dirty="0" smtClean="0">
                <a:latin typeface="Times New Roman" pitchFamily="18" charset="0"/>
              </a:rPr>
              <a:t>	     ⇓</a:t>
            </a:r>
          </a:p>
          <a:p>
            <a:pPr eaLnBrk="1" hangingPunct="1"/>
            <a:r>
              <a:rPr lang="nb-NO" sz="2400" dirty="0">
                <a:latin typeface="Times New Roman" pitchFamily="18" charset="0"/>
              </a:rPr>
              <a:t>F</a:t>
            </a:r>
            <a:r>
              <a:rPr lang="nb-NO" sz="2400" dirty="0" smtClean="0">
                <a:latin typeface="Times New Roman" pitchFamily="18" charset="0"/>
              </a:rPr>
              <a:t>ysisk funksjon ⬆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Balanse ⬆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Prestasjon ⬆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Risiko ⬇ for eksempel: </a:t>
            </a: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Kreft</a:t>
            </a: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Død </a:t>
            </a: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Beinskjørhet</a:t>
            </a:r>
          </a:p>
          <a:p>
            <a:pPr lvl="1" eaLnBrk="1" hangingPunct="1"/>
            <a:r>
              <a:rPr lang="nb-NO" sz="2400" dirty="0" smtClean="0">
                <a:latin typeface="Times New Roman" pitchFamily="18" charset="0"/>
              </a:rPr>
              <a:t>Hjerte-karsykdom</a:t>
            </a:r>
          </a:p>
        </p:txBody>
      </p:sp>
      <p:pic>
        <p:nvPicPr>
          <p:cNvPr id="47108" name="Picture 4" descr="lungebeinpress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356100" y="1612900"/>
            <a:ext cx="4787900" cy="3886200"/>
          </a:xfrm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0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  <a:t>Eksempel: MST for Kronisk </a:t>
            </a:r>
            <a:r>
              <a:rPr lang="nb-NO" sz="3600" dirty="0" err="1" smtClean="0">
                <a:solidFill>
                  <a:schemeClr val="tx1"/>
                </a:solidFill>
                <a:latin typeface="Times New Roman" pitchFamily="18" charset="0"/>
              </a:rPr>
              <a:t>obstruktiv</a:t>
            </a:r>
            <a:r>
              <a:rPr lang="nb-NO" sz="3600" dirty="0" smtClean="0">
                <a:solidFill>
                  <a:schemeClr val="tx1"/>
                </a:solidFill>
                <a:latin typeface="Times New Roman" pitchFamily="18" charset="0"/>
              </a:rPr>
              <a:t> lungesykdom (KOLS)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4463" y="2054225"/>
            <a:ext cx="3779837" cy="4038600"/>
          </a:xfrm>
        </p:spPr>
        <p:txBody>
          <a:bodyPr/>
          <a:lstStyle/>
          <a:p>
            <a:pPr eaLnBrk="1" hangingPunct="1"/>
            <a:r>
              <a:rPr lang="nb-NO" sz="2400" dirty="0" smtClean="0">
                <a:latin typeface="Times New Roman" pitchFamily="18" charset="0"/>
              </a:rPr>
              <a:t>5 serier - 5 repetisjoner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85-90% 1RM</a:t>
            </a:r>
          </a:p>
          <a:p>
            <a:pPr eaLnBrk="1" hangingPunct="1"/>
            <a:r>
              <a:rPr lang="nb-NO" sz="2400" dirty="0">
                <a:latin typeface="Times New Roman" pitchFamily="18" charset="0"/>
              </a:rPr>
              <a:t>M</a:t>
            </a:r>
            <a:r>
              <a:rPr lang="nb-NO" sz="2400" dirty="0" smtClean="0">
                <a:latin typeface="Times New Roman" pitchFamily="18" charset="0"/>
              </a:rPr>
              <a:t>aksimal mobilisering av kraft i konsentrisk fase</a:t>
            </a:r>
          </a:p>
          <a:p>
            <a:pPr eaLnBrk="1" hangingPunct="1"/>
            <a:r>
              <a:rPr lang="nb-NO" sz="2400" dirty="0">
                <a:latin typeface="Times New Roman" pitchFamily="18" charset="0"/>
              </a:rPr>
              <a:t>Ø</a:t>
            </a:r>
            <a:r>
              <a:rPr lang="nb-NO" sz="2400" dirty="0" smtClean="0">
                <a:latin typeface="Times New Roman" pitchFamily="18" charset="0"/>
              </a:rPr>
              <a:t>ker belastningen når reps og serier kan gjennomføres</a:t>
            </a:r>
          </a:p>
          <a:p>
            <a:pPr eaLnBrk="1" hangingPunct="1"/>
            <a:r>
              <a:rPr lang="nb-NO" sz="2400" dirty="0" smtClean="0">
                <a:latin typeface="Times New Roman" pitchFamily="18" charset="0"/>
              </a:rPr>
              <a:t>3 x uken, 8 uker</a:t>
            </a:r>
            <a:endParaRPr lang="nb-NO" sz="2400" dirty="0" smtClean="0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48132" name="Picture 4" descr="lungebeinpress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3886200" y="2133600"/>
            <a:ext cx="5257800" cy="3943350"/>
          </a:xfrm>
        </p:spPr>
      </p:pic>
      <p:sp>
        <p:nvSpPr>
          <p:cNvPr id="48134" name="TextBox 1"/>
          <p:cNvSpPr txBox="1">
            <a:spLocks noChangeArrowheads="1"/>
          </p:cNvSpPr>
          <p:nvPr/>
        </p:nvSpPr>
        <p:spPr bwMode="auto">
          <a:xfrm>
            <a:off x="7462838" y="6081713"/>
            <a:ext cx="16208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/>
              <a:t>KOLS-pasient</a:t>
            </a:r>
            <a:endParaRPr lang="en-US"/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24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Hoff COPD2007"/>
          <p:cNvPicPr>
            <a:picLocks noGrp="1" noChangeAspect="1" noChangeArrowheads="1"/>
          </p:cNvPicPr>
          <p:nvPr>
            <p:ph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0" y="1425922"/>
            <a:ext cx="8964613" cy="4451350"/>
          </a:xfrm>
          <a:noFill/>
        </p:spPr>
      </p:pic>
      <p:sp>
        <p:nvSpPr>
          <p:cNvPr id="2" name="TextBox 1"/>
          <p:cNvSpPr txBox="1"/>
          <p:nvPr/>
        </p:nvSpPr>
        <p:spPr>
          <a:xfrm>
            <a:off x="3275856" y="267890"/>
            <a:ext cx="29450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err="1" smtClean="0"/>
              <a:t>Resultater</a:t>
            </a:r>
            <a:endParaRPr lang="en-US" sz="4400" b="1" dirty="0"/>
          </a:p>
        </p:txBody>
      </p:sp>
      <p:pic>
        <p:nvPicPr>
          <p:cNvPr id="3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09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b-NO" sz="4000" dirty="0" smtClean="0">
                <a:latin typeface="Times New Roman" pitchFamily="18" charset="0"/>
              </a:rPr>
              <a:t>Meget </a:t>
            </a:r>
            <a:r>
              <a:rPr lang="nb-NO" sz="4000" dirty="0" smtClean="0">
                <a:latin typeface="Times New Roman" pitchFamily="18" charset="0"/>
              </a:rPr>
              <a:t>store muligheter for forbedring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985299662"/>
              </p:ext>
            </p:extLst>
          </p:nvPr>
        </p:nvGraphicFramePr>
        <p:xfrm>
          <a:off x="2051720" y="2348880"/>
          <a:ext cx="5040560" cy="3888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08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34925" y="115888"/>
            <a:ext cx="892968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nb-NO" sz="3600" dirty="0">
                <a:latin typeface="Times New Roman" pitchFamily="18" charset="0"/>
              </a:rPr>
              <a:t>Kroppens plastisitet gir en unik mulighet til et individuelt valg om hvilken retning man ønsker å </a:t>
            </a:r>
            <a:r>
              <a:rPr lang="nb-NO" sz="3600" dirty="0" smtClean="0">
                <a:latin typeface="Times New Roman" pitchFamily="18" charset="0"/>
              </a:rPr>
              <a:t>følge</a:t>
            </a:r>
          </a:p>
          <a:p>
            <a:pPr algn="ctr"/>
            <a:endParaRPr lang="nb-NO" sz="3600" dirty="0">
              <a:latin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197" y="2433028"/>
            <a:ext cx="4471144" cy="3594800"/>
          </a:xfrm>
          <a:prstGeom prst="rect">
            <a:avLst/>
          </a:prstGeom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8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564904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nb-NO" dirty="0">
                <a:latin typeface="Times New Roman" pitchFamily="18" charset="0"/>
              </a:rPr>
              <a:t>... mot inaktivitet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48200" y="2349261"/>
            <a:ext cx="4038600" cy="3027841"/>
          </a:xfrm>
          <a:prstGeom prst="rect">
            <a:avLst/>
          </a:prstGeom>
        </p:spPr>
      </p:pic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</a:t>
            </a:r>
            <a:r>
              <a:rPr lang="en-US" dirty="0" err="1" smtClean="0"/>
              <a:t>ller</a:t>
            </a:r>
            <a:r>
              <a:rPr lang="mr-IN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b-NO" dirty="0">
              <a:latin typeface="Times New Roman" pitchFamily="18" charset="0"/>
            </a:endParaRPr>
          </a:p>
          <a:p>
            <a:r>
              <a:rPr lang="nb-NO" dirty="0">
                <a:latin typeface="Times New Roman" pitchFamily="18" charset="0"/>
              </a:rPr>
              <a:t>...eller mot utmerket helse, prestasjon og livskvalitet </a:t>
            </a:r>
            <a:r>
              <a:rPr lang="mr-IN" dirty="0">
                <a:latin typeface="Times New Roman" pitchFamily="18" charset="0"/>
              </a:rPr>
              <a:t>–</a:t>
            </a:r>
            <a:r>
              <a:rPr lang="nb-NO" dirty="0">
                <a:latin typeface="Times New Roman" pitchFamily="18" charset="0"/>
              </a:rPr>
              <a:t> </a:t>
            </a:r>
            <a:r>
              <a:rPr lang="nb-NO" dirty="0" smtClean="0">
                <a:latin typeface="Times New Roman" pitchFamily="18" charset="0"/>
              </a:rPr>
              <a:t>og </a:t>
            </a:r>
            <a:r>
              <a:rPr lang="nb-NO" dirty="0">
                <a:latin typeface="Times New Roman" pitchFamily="18" charset="0"/>
              </a:rPr>
              <a:t>mulighet for et liv med </a:t>
            </a:r>
            <a:r>
              <a:rPr lang="nb-NO" dirty="0" smtClean="0">
                <a:latin typeface="Times New Roman" pitchFamily="18" charset="0"/>
              </a:rPr>
              <a:t>lav </a:t>
            </a:r>
            <a:r>
              <a:rPr lang="nb-NO" dirty="0">
                <a:latin typeface="Times New Roman" pitchFamily="18" charset="0"/>
              </a:rPr>
              <a:t>risiko for livsstilsykdommer og tidlig død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48200" y="2516981"/>
            <a:ext cx="4038600" cy="2692400"/>
          </a:xfrm>
          <a:prstGeom prst="rect">
            <a:avLst/>
          </a:prstGeom>
        </p:spPr>
      </p:pic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2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0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Standard utforming">
  <a:themeElements>
    <a:clrScheme name="Standard utformin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 utformin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 utform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utform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utform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utform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utform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utform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utform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utform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utform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utform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utform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utform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Clouds</Template>
  <TotalTime>2384</TotalTime>
  <Words>826</Words>
  <Application>Microsoft Macintosh PowerPoint</Application>
  <PresentationFormat>On-screen Show (4:3)</PresentationFormat>
  <Paragraphs>271</Paragraphs>
  <Slides>37</Slides>
  <Notes>30</Notes>
  <HiddenSlides>0</HiddenSlides>
  <MMClips>37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Calibri</vt:lpstr>
      <vt:lpstr>Courier New</vt:lpstr>
      <vt:lpstr>Times</vt:lpstr>
      <vt:lpstr>Times New Roman</vt:lpstr>
      <vt:lpstr>Wingdings</vt:lpstr>
      <vt:lpstr>Arial</vt:lpstr>
      <vt:lpstr>Standard utforming</vt:lpstr>
      <vt:lpstr>Photo Editor Photo</vt:lpstr>
      <vt:lpstr>Document</vt:lpstr>
      <vt:lpstr>Excel.Sheet.8</vt:lpstr>
      <vt:lpstr>PowerPoint Presentation</vt:lpstr>
      <vt:lpstr>Vår biologiske arv</vt:lpstr>
      <vt:lpstr>Hvorfor trening?</vt:lpstr>
      <vt:lpstr>Trening er ferskvare!</vt:lpstr>
      <vt:lpstr>Fysisk trening  </vt:lpstr>
      <vt:lpstr>Trening er medisin</vt:lpstr>
      <vt:lpstr>PowerPoint Presentation</vt:lpstr>
      <vt:lpstr>PowerPoint Presentation</vt:lpstr>
      <vt:lpstr>PowerPoint Presentation</vt:lpstr>
      <vt:lpstr>Trening for prestasjon</vt:lpstr>
      <vt:lpstr>Trening er livskvalitet</vt:lpstr>
      <vt:lpstr>Effektiv styrketrening</vt:lpstr>
      <vt:lpstr>Forskningsbasert kunnskap</vt:lpstr>
      <vt:lpstr>Newtons 2.lov</vt:lpstr>
      <vt:lpstr>Mål på kraft: 1RM</vt:lpstr>
      <vt:lpstr>Mål på kraft: RFD</vt:lpstr>
      <vt:lpstr>Intensitet</vt:lpstr>
      <vt:lpstr>Muskelstyrke kan bedres ved:</vt:lpstr>
      <vt:lpstr>Maksimal styrketrening (MST) –  Fokus på neurale tilpasninger</vt:lpstr>
      <vt:lpstr>MST –  Trening av nervesystemet og hjernen!</vt:lpstr>
      <vt:lpstr>Trening av hypertrofi</vt:lpstr>
      <vt:lpstr>Sammenlikning av MST og hypertrofitrening Heggelund et al. 2013</vt:lpstr>
      <vt:lpstr>Sammenlikning av MST og hypertrofitrening  Heggelund et al. 2013</vt:lpstr>
      <vt:lpstr>MST eller hypertrofitrening?</vt:lpstr>
      <vt:lpstr>Risiko ved MST?</vt:lpstr>
      <vt:lpstr>Anvendelse: Fotball</vt:lpstr>
      <vt:lpstr>Resultater Molde fotballklubb  forsesongen 2002</vt:lpstr>
      <vt:lpstr>Avendelse: Trente utøvere </vt:lpstr>
      <vt:lpstr>Resultater</vt:lpstr>
      <vt:lpstr>Eksempler på forbedringer av 1 RM som følge av  MST i ulike populasjoner - relative verdier</vt:lpstr>
      <vt:lpstr>MST for pasienter</vt:lpstr>
      <vt:lpstr>Eksempel: MST for Kronisk obstruktiv lungesykdom (KOLS)</vt:lpstr>
      <vt:lpstr>PowerPoint Presentation</vt:lpstr>
      <vt:lpstr>Meget store muligheter for forbedring</vt:lpstr>
      <vt:lpstr>PowerPoint Presentation</vt:lpstr>
      <vt:lpstr>PowerPoint Presentation</vt:lpstr>
      <vt:lpstr>eller…</vt:lpstr>
    </vt:vector>
  </TitlesOfParts>
  <Company>NTNU, Det medisinske fakultet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Effektiv styrketrening</dc:title>
  <dc:creator>DMF</dc:creator>
  <cp:lastModifiedBy>Microsoft Office User</cp:lastModifiedBy>
  <cp:revision>163</cp:revision>
  <dcterms:created xsi:type="dcterms:W3CDTF">2010-01-26T12:02:02Z</dcterms:created>
  <dcterms:modified xsi:type="dcterms:W3CDTF">2021-01-18T09:28:33Z</dcterms:modified>
</cp:coreProperties>
</file>